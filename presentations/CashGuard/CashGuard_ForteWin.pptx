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 секунд. CashGuard — наш прототип по кейсу ForteBank. Он помогает проверяющему перейти от длинной записи к конкретным событиям и их доказательствам. Это инструмент поддержки проверки человеком.</a:t>
            </a:r>
          </a:p>
          <a:p/>
          <a:p>
            <a:r>
              <a:t>Источники: README.md; Кейс_ForteBank.docx §4–7; дизайн работающего UI ForteWin-ui.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секунд. Проблема не только в поиске объекта. Для проверки нужны момент, последовательность и основания. Мы не заявляем измеренного сокращения трудозатрат: это ценность, которую ещё предстоит измерить в пилоте.</a:t>
            </a:r>
          </a:p>
          <a:p/>
          <a:p>
            <a:r>
              <a:t>Источники: Кейс_ForteBank.docx §4–6; UI review workspace.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секунд. Покажите рабочую среду: загрузка, история и результат в одном месте. Это снимок текущего тёмного интерфейса; для презентации API-ответы обезличены и история пуста. Заявления о производительности из этого экрана не следуют.</a:t>
            </a:r>
          </a:p>
          <a:p/>
          <a:p>
            <a:r>
              <a:t>Источники: ForteWin-ui/src/frontend/src/components/ui/app-1.tsx; index.css; локальный снимок localhost:3000, пустая история.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секунд. Пользователь загружает видео, сервис создаёт задание, затем показывает результат. Каждый сигнал можно проверить по исходной записи. В текущем продукте есть экспорт JSON; не заявляем автоматизированный окончательный вердикт человека.</a:t>
            </a:r>
          </a:p>
          <a:p/>
          <a:p>
            <a:r>
              <a:t>Источники: src/frontend/src/lib/api.ts; src/backend/internal/transport/http.go; UI app-1.tsx.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секунд. Карточка связывает сигнал со временем, кадрами и нормативом. На слайде только схема, без реальных кадров и описаний датасета. Норматив в runtime добавляется при наличии пометки source_verified; юридическую корректность трактовки нужно проверять отдельно.</a:t>
            </a:r>
          </a:p>
          <a:p/>
          <a:p>
            <a:r>
              <a:t>Источники: scripts/cashguard_analyzer.py; app/ml/pipeline.py; src/backend/internal/domain/job.go.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секунд. Go запускает локальный Python-анализатор через командный интерфейс. Восприятие выделяет объекты, позы, треки и зоны. Дополнительные модели дают признаки для скорера; набор этапов зависит от настроек и бюджета. VLM не является единственным источником окончательного решения. PostgreSQL используется в Compose, есть адаптер SQLite.</a:t>
            </a:r>
          </a:p>
          <a:p/>
          <a:p>
            <a:r>
              <a:t>Источники: app/ml/{perception,tracking,events,semantic,ovd,vlm,pipeline,scorer}.py; src/backend/internal/infrastructure; compose.yaml.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секунд. Локальность — требование кейса и свойство ML-архитектуры, а не заявление об аудите безопасности всего сервиса. Отдельно разворачиваются веб-доступ и API. Мы не используем распознавание личности и не делаем выводы об информации, которой нет в кадре.</a:t>
            </a:r>
          </a:p>
          <a:p/>
          <a:p>
            <a:r>
              <a:t>Источники: Кейс_ForteBank.docx §7; offline flags in app/ml/vlm.py and scripts/cashguard_analyzer.py; perception.py.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секунд. 77,5% — групповой development CV из сохранённого отчёта, не независимый тест. TP=12, FN=9, TN=19, FP=0; recall позитивных видео 57,1%. Есть риск утечки, поскольку не все обучаемые компоненты переобучались внутри каждого фолда и по этим данным выбирали решения. На обучающем наборе 17/21 позитивных найдено и 19/19 негативных верны — 90%, но это fit-оценка. Приоритет — снизить пропуски и подтвердить результат на новых сценах. В этой работе обучение и оценка повторно не запускались.</a:t>
            </a:r>
          </a:p>
          <a:p/>
          <a:p>
            <a:r>
              <a:t>Источники: artifacts/checks-20261017/comparison.json (candidate.development_cv и training_set); docs/claude_code_next_steps.txt.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секунд. Улучшение планируем через разметку действий и временной контекст, а не десять одинаковых прогонов. Данные должны оставаться локально. Независимая оценка требует новых постановочных сцен, не тестов жюри. Это roadmap, не уже внедрённая функциональность.</a:t>
            </a:r>
          </a:p>
          <a:p/>
          <a:p>
            <a:r>
              <a:t>Источники: docs/claude_code_next_steps.txt; tests/test_pipeline_budget.py; scripts/train_scorer.py.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секунд. Полный SLA пока не доказан: в Go worker сейчас таймаут 15 минут, а бюджет Python не гарантирует 5 минут от загрузки при очереди. Поэтому эта строка — критерий пилота, не обещание текущего сервиса. Измеримого ROI пока нет; предлагаем измерять время проверки.</a:t>
            </a:r>
          </a:p>
          <a:p/>
          <a:p>
            <a:r>
              <a:t>Источники: Кейс_ForteBank.docx §10; src/backend/internal/usecase/service.go; scripts/cashguard_analyzer.py; docs/api_contract_gap.md.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 секунд. Завершите основной рассказ и перейдите к локальной демонстрации. Покажите загрузку, готовый результат, переход к таймкоду и норматив. Выберите заранее проверенный сценарий; не утверждайте, что система находит все нарушения. Слайды 12–14 — резерв для вопросов.</a:t>
            </a:r>
          </a:p>
          <a:p/>
          <a:p>
            <a:r>
              <a:t>Источники: Основная часть: слайды 1–11, около 4 минут 35 секунд; оставшееся время — короткая демонстрация.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Резерв. Маршруты присутствуют в backend. Не путать наличие маршрутов с полностью доказанным SLA: полный прогон очереди и deadline нужен отдельно. Вход .mov; API схемы имеют два вердикта.</a:t>
            </a:r>
          </a:p>
          <a:p/>
          <a:p>
            <a:r>
              <a:t>Источники: src/backend/internal/transport/http.go; src/backend/internal/domain/job.go; Кейс_ForteBank.docx §10.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Резерв. Это UX-концепт для проверки человеком. Не называем третий статус доказанным нарушением. Уверенность должна опираться на наблюдаемые основания и валидацию, а не на произвольные проценты модели. Неполнота не равна нарушению и не должна превращаться в ложную уверенность.</a:t>
            </a:r>
          </a:p>
          <a:p/>
          <a:p>
            <a:r>
              <a:t>Источники: docs/claude_code_next_steps.txt; Кейс_ForteBank.docx §4, §10 и FAQ о недостаточности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Резерв. Это обзор текущего состояния, не сертификат готовности. Изучены основные подсистемы и структура папки; бинарные веса и закрытые видеозаписи не интерпретировались для презентации. Текущие незакоммиченные изменения пользователя не трогались.</a:t>
            </a:r>
          </a:p>
          <a:p/>
          <a:p>
            <a:r>
              <a:t>Источники: README.md; app/; src/; scripts/; tests/; compose.yaml; configs/; design/; artifacts/checks-20261017/comparison.json.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ero-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pic>
        <p:nvPicPr>
          <p:cNvPr id="3" name="Picture 2" descr="cashguard-for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84048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60704" y="393192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AF8FA"/>
                </a:solidFill>
                <a:latin typeface="Inter"/>
              </a:defRPr>
            </a:pPr>
            <a:r>
              <a:t>CashGuard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49039" y="438912"/>
            <a:ext cx="9966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DATATHON 2026 · ЛОКАЛЬНАЯ ВИДЕОАНАЛИТИКА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7744968"/>
            <a:ext cx="13441680" cy="10972"/>
          </a:xfrm>
          <a:prstGeom prst="rect">
            <a:avLst/>
          </a:prstGeom>
          <a:solidFill>
            <a:srgbClr val="342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7909560"/>
            <a:ext cx="8229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B5A8B4"/>
                </a:solidFill>
                <a:latin typeface="Inter"/>
              </a:defRPr>
            </a:pPr>
            <a:r>
              <a:t>FORTEWIN  /  КЕЙС FORTEBANK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0" y="7872983"/>
            <a:ext cx="548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01</a:t>
            </a:r>
          </a:p>
        </p:txBody>
      </p:sp>
      <p:pic>
        <p:nvPicPr>
          <p:cNvPr id="9" name="Picture 8" descr="forte-he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0" y="1280160"/>
            <a:ext cx="3017520" cy="45987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1874519"/>
            <a:ext cx="91440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7600" b="1">
                <a:solidFill>
                  <a:srgbClr val="FAF8FA"/>
                </a:solidFill>
                <a:latin typeface="Inter"/>
              </a:defRPr>
            </a:pPr>
            <a:r>
              <a:t>CashGuard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83280"/>
            <a:ext cx="941832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900" b="1">
                <a:solidFill>
                  <a:srgbClr val="FAF8FA"/>
                </a:solidFill>
                <a:latin typeface="Inter"/>
              </a:defRPr>
            </a:pPr>
            <a:r>
              <a:t>От видео —</a:t>
            </a:r>
          </a:p>
          <a:p>
            <a:pPr>
              <a:spcAft>
                <a:spcPts val="1000"/>
              </a:spcAft>
              <a:defRPr sz="3900" b="1">
                <a:solidFill>
                  <a:srgbClr val="FAF8FA"/>
                </a:solidFill>
                <a:latin typeface="Inter"/>
              </a:defRPr>
            </a:pPr>
            <a:r>
              <a:t>к проверяемому событию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5596128"/>
            <a:ext cx="96012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100" b="0">
                <a:solidFill>
                  <a:srgbClr val="EFA7C6"/>
                </a:solidFill>
                <a:latin typeface="Inter"/>
              </a:defRPr>
            </a:pPr>
            <a:r>
              <a:t>Контроль кассовых операций</a:t>
            </a:r>
          </a:p>
          <a:p>
            <a:pPr>
              <a:spcAft>
                <a:spcPts val="1000"/>
              </a:spcAft>
              <a:defRPr sz="2100" b="0">
                <a:solidFill>
                  <a:srgbClr val="EFA7C6"/>
                </a:solidFill>
                <a:latin typeface="Inter"/>
              </a:defRPr>
            </a:pPr>
            <a:r>
              <a:t>с таймкодами, кадрами и нормативным контекстом.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8" y="6858000"/>
            <a:ext cx="3063240" cy="448056"/>
          </a:xfrm>
          <a:prstGeom prst="roundRect">
            <a:avLst>
              <a:gd name="adj" fmla="val 12000"/>
            </a:avLst>
          </a:prstGeom>
          <a:solidFill>
            <a:srgbClr val="B91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6958584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FAF8FA"/>
                </a:solidFill>
                <a:latin typeface="Inter"/>
              </a:defRPr>
            </a:pPr>
            <a:r>
              <a:t>КОМАНДА FORTEWIN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ashguard-for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84048"/>
            <a:ext cx="384048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60704" y="393192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AF8FA"/>
                </a:solidFill>
                <a:latin typeface="Inter"/>
              </a:defRPr>
            </a:pPr>
            <a:r>
              <a:t>CashGuard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39" y="438912"/>
            <a:ext cx="9966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01 / ЗАДАЧА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7744968"/>
            <a:ext cx="13441680" cy="10972"/>
          </a:xfrm>
          <a:prstGeom prst="rect">
            <a:avLst/>
          </a:prstGeom>
          <a:solidFill>
            <a:srgbClr val="342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7909560"/>
            <a:ext cx="8229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B5A8B4"/>
                </a:solidFill>
                <a:latin typeface="Inter"/>
              </a:defRPr>
            </a:pPr>
            <a:r>
              <a:t>FORTEWIN  /  КЕЙС FORTEBANK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0" y="7872983"/>
            <a:ext cx="548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34440"/>
            <a:ext cx="13258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3500" b="1">
                <a:solidFill>
                  <a:srgbClr val="FAF8FA"/>
                </a:solidFill>
                <a:latin typeface="Inter"/>
              </a:defRPr>
            </a:pPr>
            <a:r>
              <a:t>На видео есть действие.</a:t>
            </a:r>
          </a:p>
          <a:p>
            <a:pPr>
              <a:spcAft>
                <a:spcPts val="0"/>
              </a:spcAft>
              <a:defRPr sz="3500" b="1">
                <a:solidFill>
                  <a:srgbClr val="FAF8FA"/>
                </a:solidFill>
                <a:latin typeface="Inter"/>
              </a:defRPr>
            </a:pPr>
            <a:r>
              <a:t>Проверяющему нужен контекст.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788920"/>
            <a:ext cx="4251960" cy="347472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3017520"/>
            <a:ext cx="3794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EFA7C6"/>
                </a:solidFill>
                <a:latin typeface="Inter"/>
              </a:defRPr>
            </a:pPr>
            <a: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657600"/>
            <a:ext cx="373989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400" b="1">
                <a:solidFill>
                  <a:srgbClr val="FAF8FA"/>
                </a:solidFill>
                <a:latin typeface="Inter"/>
              </a:defRPr>
            </a:pPr>
            <a:r>
              <a:t>Найти момент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4617720"/>
            <a:ext cx="3739896" cy="15361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Просмотреть запись и определить,</a:t>
            </a:r>
          </a:p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где начинается значимое событие.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93792" y="2788920"/>
            <a:ext cx="4251960" cy="347472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49824" y="3017520"/>
            <a:ext cx="3794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EFA7C6"/>
                </a:solidFill>
                <a:latin typeface="Inter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9824" y="3657600"/>
            <a:ext cx="373989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400" b="1">
                <a:solidFill>
                  <a:srgbClr val="FAF8FA"/>
                </a:solidFill>
                <a:latin typeface="Inter"/>
              </a:defRPr>
            </a:pPr>
            <a:r>
              <a:t>Понять ситуацию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9824" y="4617720"/>
            <a:ext cx="3739896" cy="15361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Сопоставить действия до, во время</a:t>
            </a:r>
          </a:p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и после подозрительного момента.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01784" y="2788920"/>
            <a:ext cx="4251960" cy="347472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57815" y="3017520"/>
            <a:ext cx="3794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EFA7C6"/>
                </a:solidFill>
                <a:latin typeface="Inter"/>
              </a:defRPr>
            </a:pPr>
            <a: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57815" y="3657600"/>
            <a:ext cx="373989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400" b="1">
                <a:solidFill>
                  <a:srgbClr val="FAF8FA"/>
                </a:solidFill>
                <a:latin typeface="Inter"/>
              </a:defRPr>
            </a:pPr>
            <a:r>
              <a:t>Обосновать вывод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57815" y="4617720"/>
            <a:ext cx="3739896" cy="15361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Собрать кадры, описание</a:t>
            </a:r>
          </a:p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и релевантную ссылку на правило.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784848"/>
            <a:ext cx="13167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EFA7C6"/>
                </a:solidFill>
                <a:latin typeface="Inter"/>
              </a:defRPr>
            </a:pPr>
            <a:r>
              <a:t>Ценность CashGuard — собрать этот путь в одном рабочем пространстве.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ashguard-for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84048"/>
            <a:ext cx="384048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60704" y="393192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AF8FA"/>
                </a:solidFill>
                <a:latin typeface="Inter"/>
              </a:defRPr>
            </a:pPr>
            <a:r>
              <a:t>CashGuard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39" y="438912"/>
            <a:ext cx="9966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02 / ПРОДУКТ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7744968"/>
            <a:ext cx="13441680" cy="10972"/>
          </a:xfrm>
          <a:prstGeom prst="rect">
            <a:avLst/>
          </a:prstGeom>
          <a:solidFill>
            <a:srgbClr val="342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7909560"/>
            <a:ext cx="8229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B5A8B4"/>
                </a:solidFill>
                <a:latin typeface="Inter"/>
              </a:defRPr>
            </a:pPr>
            <a:r>
              <a:t>FORTEWIN  /  КЕЙС FORTEBANK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0" y="7872983"/>
            <a:ext cx="548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34440"/>
            <a:ext cx="13258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3700" b="1">
                <a:solidFill>
                  <a:srgbClr val="FAF8FA"/>
                </a:solidFill>
                <a:latin typeface="Inter"/>
              </a:defRPr>
            </a:pPr>
            <a:r>
              <a:t>Интерфейс, который ведёт к проверке</a:t>
            </a:r>
          </a:p>
        </p:txBody>
      </p:sp>
      <p:pic>
        <p:nvPicPr>
          <p:cNvPr id="9" name="Picture 8" descr="interfa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2377440"/>
            <a:ext cx="8229600" cy="51435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253728" y="2377440"/>
            <a:ext cx="4663440" cy="5138928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73768" y="2697480"/>
            <a:ext cx="397763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500" b="1">
                <a:solidFill>
                  <a:srgbClr val="FAF8FA"/>
                </a:solidFill>
                <a:latin typeface="Inter"/>
              </a:defRPr>
            </a:pPr>
            <a:r>
              <a:t>Знакомая визуальная среда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73768" y="3675887"/>
            <a:ext cx="39319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EFA7C6"/>
                </a:solidFill>
                <a:latin typeface="Inter"/>
              </a:defRPr>
            </a:pPr>
            <a:r>
              <a:t>Бордовый акцент Forte</a:t>
            </a:r>
          </a:p>
          <a:p>
            <a:pPr>
              <a:spcAft>
                <a:spcPts val="1000"/>
              </a:spcAft>
              <a:defRPr sz="2000" b="0">
                <a:solidFill>
                  <a:srgbClr val="EFA7C6"/>
                </a:solidFill>
                <a:latin typeface="Inter"/>
              </a:defRPr>
            </a:pPr>
            <a:r>
              <a:t>и знак F в плашке.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73768" y="4818888"/>
            <a:ext cx="38404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B5A8B4"/>
                </a:solidFill>
                <a:latin typeface="Inter"/>
              </a:defRPr>
            </a:pPr>
            <a:r>
              <a:t>Загрузка записи</a:t>
            </a:r>
          </a:p>
          <a:p>
            <a:pPr>
              <a:spcAft>
                <a:spcPts val="1000"/>
              </a:spcAft>
              <a:defRPr sz="2000" b="0">
                <a:solidFill>
                  <a:srgbClr val="B5A8B4"/>
                </a:solidFill>
                <a:latin typeface="Inter"/>
              </a:defRPr>
            </a:pPr>
            <a:r>
              <a:t>История анализов</a:t>
            </a:r>
          </a:p>
          <a:p>
            <a:pPr>
              <a:spcAft>
                <a:spcPts val="1000"/>
              </a:spcAft>
              <a:defRPr sz="2000" b="0">
                <a:solidFill>
                  <a:srgbClr val="B5A8B4"/>
                </a:solidFill>
                <a:latin typeface="Inter"/>
              </a:defRPr>
            </a:pPr>
            <a:r>
              <a:t>События и доказательства</a:t>
            </a:r>
          </a:p>
          <a:p>
            <a:pPr>
              <a:spcAft>
                <a:spcPts val="1000"/>
              </a:spcAft>
              <a:defRPr sz="2000" b="0">
                <a:solidFill>
                  <a:srgbClr val="B5A8B4"/>
                </a:solidFill>
                <a:latin typeface="Inter"/>
              </a:defRPr>
            </a:pPr>
            <a:r>
              <a:t>Экспорт результата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ashguard-for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84048"/>
            <a:ext cx="384048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60704" y="393192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AF8FA"/>
                </a:solidFill>
                <a:latin typeface="Inter"/>
              </a:defRPr>
            </a:pPr>
            <a:r>
              <a:t>CashGuard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39" y="438912"/>
            <a:ext cx="9966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03 / ПОЛЬЗОВАТЕЛЬСКИЙ ПУТЬ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7744968"/>
            <a:ext cx="13441680" cy="10972"/>
          </a:xfrm>
          <a:prstGeom prst="rect">
            <a:avLst/>
          </a:prstGeom>
          <a:solidFill>
            <a:srgbClr val="342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7909560"/>
            <a:ext cx="8229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B5A8B4"/>
                </a:solidFill>
                <a:latin typeface="Inter"/>
              </a:defRPr>
            </a:pPr>
            <a:r>
              <a:t>FORTEWIN  /  КЕЙС FORTEBANK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0" y="7872983"/>
            <a:ext cx="548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34440"/>
            <a:ext cx="13258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3700" b="1">
                <a:solidFill>
                  <a:srgbClr val="FAF8FA"/>
                </a:solidFill>
                <a:latin typeface="Inter"/>
              </a:defRPr>
            </a:pPr>
            <a:r>
              <a:t>Четыре шага от записи к решению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377440"/>
            <a:ext cx="13075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B5A8B4"/>
                </a:solidFill>
                <a:latin typeface="Inter"/>
              </a:defRPr>
            </a:pPr>
            <a:r>
              <a:t>Система подготавливает материал. Окончательную оценку даёт человек.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310128"/>
            <a:ext cx="3200400" cy="306324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557016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EFA7C6"/>
                </a:solidFill>
                <a:latin typeface="Inter"/>
              </a:defRPr>
            </a:pPr>
            <a: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425696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FAF8FA"/>
                </a:solidFill>
                <a:latin typeface="Inter"/>
              </a:defRPr>
            </a:pPr>
            <a:r>
              <a:t>Загрузить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257800"/>
            <a:ext cx="27432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.mov-запись</a:t>
            </a:r>
          </a:p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кассовой операции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77056" y="3931920"/>
            <a:ext cx="25603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EFA7C6"/>
                </a:solidFill>
                <a:latin typeface="Inter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87368" y="3310128"/>
            <a:ext cx="3200400" cy="306324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15968" y="3557016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EFA7C6"/>
                </a:solidFill>
                <a:latin typeface="Inter"/>
              </a:defRPr>
            </a:pPr>
            <a: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15968" y="4425696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FAF8FA"/>
                </a:solidFill>
                <a:latin typeface="Inter"/>
              </a:defRPr>
            </a:pPr>
            <a:r>
              <a:t>Проанализировать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5968" y="5257800"/>
            <a:ext cx="27432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Локальные модели</a:t>
            </a:r>
          </a:p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и проверка кандидатов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78624" y="3931920"/>
            <a:ext cx="25603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EFA7C6"/>
                </a:solidFill>
                <a:latin typeface="Inter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88936" y="3310128"/>
            <a:ext cx="3200400" cy="306324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17536" y="3557016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EFA7C6"/>
                </a:solidFill>
                <a:latin typeface="Inter"/>
              </a:defRPr>
            </a:pPr>
            <a: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17536" y="4425696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FAF8FA"/>
                </a:solidFill>
                <a:latin typeface="Inter"/>
              </a:defRPr>
            </a:pPr>
            <a:r>
              <a:t>Проверить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17536" y="5257800"/>
            <a:ext cx="27432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Таймкод, кадры,</a:t>
            </a:r>
          </a:p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описание и норматив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80192" y="3931920"/>
            <a:ext cx="25603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EFA7C6"/>
                </a:solidFill>
                <a:latin typeface="Inter"/>
              </a:defRPr>
            </a:pPr>
            <a: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890504" y="3310128"/>
            <a:ext cx="3200400" cy="306324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19104" y="3557016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EFA7C6"/>
                </a:solidFill>
                <a:latin typeface="Inter"/>
              </a:defRPr>
            </a:pPr>
            <a: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19104" y="4425696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FAF8FA"/>
                </a:solidFill>
                <a:latin typeface="Inter"/>
              </a:defRPr>
            </a:pPr>
            <a:r>
              <a:t>Сохранить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19104" y="5257800"/>
            <a:ext cx="27432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Результат в истории</a:t>
            </a:r>
          </a:p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и экспорт JSON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ashguard-for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84048"/>
            <a:ext cx="384048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60704" y="393192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AF8FA"/>
                </a:solidFill>
                <a:latin typeface="Inter"/>
              </a:defRPr>
            </a:pPr>
            <a:r>
              <a:t>CashGuard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39" y="438912"/>
            <a:ext cx="9966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04 / ОБЪЯСНИМЫЙ РЕЗУЛЬТАТ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7744968"/>
            <a:ext cx="13441680" cy="10972"/>
          </a:xfrm>
          <a:prstGeom prst="rect">
            <a:avLst/>
          </a:prstGeom>
          <a:solidFill>
            <a:srgbClr val="342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7909560"/>
            <a:ext cx="8229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B5A8B4"/>
                </a:solidFill>
                <a:latin typeface="Inter"/>
              </a:defRPr>
            </a:pPr>
            <a:r>
              <a:t>FORTEWIN  /  КЕЙС FORTEBANK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0" y="7872983"/>
            <a:ext cx="548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34440"/>
            <a:ext cx="13258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3700" b="1">
                <a:solidFill>
                  <a:srgbClr val="FAF8FA"/>
                </a:solidFill>
                <a:latin typeface="Inter"/>
              </a:defRPr>
            </a:pPr>
            <a:r>
              <a:t>Не только сигнал — основания для проверки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377440"/>
            <a:ext cx="13075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B5A8B4"/>
                </a:solidFill>
                <a:latin typeface="Inter"/>
              </a:defRPr>
            </a:pPr>
            <a:r>
              <a:t>Схема карточки события. Не пример из закрытого датасета.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017520"/>
            <a:ext cx="7909560" cy="411480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60120" y="3291840"/>
            <a:ext cx="7360920" cy="585216"/>
          </a:xfrm>
          <a:prstGeom prst="roundRect">
            <a:avLst>
              <a:gd name="adj" fmla="val 12000"/>
            </a:avLst>
          </a:prstGeom>
          <a:solidFill>
            <a:srgbClr val="3825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3447288"/>
            <a:ext cx="6858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E8BB77"/>
                </a:solidFill>
                <a:latin typeface="Inter"/>
              </a:defRPr>
            </a:pPr>
            <a:r>
              <a:t>ПРИЗНАКИ ВОЗМОЖНОГО НАРУШЕНИЯ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78408" y="4169663"/>
            <a:ext cx="2249424" cy="1371600"/>
          </a:xfrm>
          <a:prstGeom prst="roundRect">
            <a:avLst>
              <a:gd name="adj" fmla="val 12000"/>
            </a:avLst>
          </a:prstGeom>
          <a:solidFill>
            <a:srgbClr val="211B23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81328" y="452628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B5A8B4"/>
                </a:solidFill>
                <a:latin typeface="Inter"/>
              </a:defRPr>
            </a:pPr>
            <a:r>
              <a:t>[ кадр 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733288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EFA7C6"/>
                </a:solidFill>
                <a:latin typeface="Inter"/>
              </a:defRPr>
            </a:pPr>
            <a:r>
              <a:t>ДО СОБЫТИЯ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38144" y="4169663"/>
            <a:ext cx="2249424" cy="1371600"/>
          </a:xfrm>
          <a:prstGeom prst="roundRect">
            <a:avLst>
              <a:gd name="adj" fmla="val 12000"/>
            </a:avLst>
          </a:prstGeom>
          <a:solidFill>
            <a:srgbClr val="211B23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41063" y="452628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B5A8B4"/>
                </a:solidFill>
                <a:latin typeface="Inter"/>
              </a:defRPr>
            </a:pPr>
            <a:r>
              <a:t>[ кадр 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57015" y="5733288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EFA7C6"/>
                </a:solidFill>
                <a:latin typeface="Inter"/>
              </a:defRPr>
            </a:pPr>
            <a:r>
              <a:t>КЛЮЧЕВОЙ МОМЕНТ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97880" y="4169663"/>
            <a:ext cx="2249424" cy="1371600"/>
          </a:xfrm>
          <a:prstGeom prst="roundRect">
            <a:avLst>
              <a:gd name="adj" fmla="val 12000"/>
            </a:avLst>
          </a:prstGeom>
          <a:solidFill>
            <a:srgbClr val="211B23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452628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B5A8B4"/>
                </a:solidFill>
                <a:latin typeface="Inter"/>
              </a:defRPr>
            </a:pPr>
            <a:r>
              <a:t>[ кадр 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16752" y="5733288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EFA7C6"/>
                </a:solidFill>
                <a:latin typeface="Inter"/>
              </a:defRPr>
            </a:pPr>
            <a:r>
              <a:t>ПОСЛЕ СОБЫТИЯ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" y="6437376"/>
            <a:ext cx="7223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FAF8FA"/>
                </a:solidFill>
                <a:latin typeface="Inter"/>
              </a:defRPr>
            </a:pPr>
            <a:r>
              <a:t>Тип события  ·  таймкод  ·  наблюдаемый факт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3182112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EFA7C6"/>
                </a:solidFill>
                <a:latin typeface="Inter"/>
              </a:defRPr>
            </a:pPr>
            <a:r>
              <a:t>01 / Время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3730752"/>
            <a:ext cx="45720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Переход к нужному моменту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4517136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EFA7C6"/>
                </a:solidFill>
                <a:latin typeface="Inter"/>
              </a:defRPr>
            </a:pPr>
            <a:r>
              <a:t>02 / Доказательства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5065775"/>
            <a:ext cx="45720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1–3 кадра для проверки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58521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EFA7C6"/>
                </a:solidFill>
                <a:latin typeface="Inter"/>
              </a:defRPr>
            </a:pPr>
            <a:r>
              <a:t>03 / Основание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6400800"/>
            <a:ext cx="45720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Описание и ссылка на норматив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ashguard-for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84048"/>
            <a:ext cx="384048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60704" y="393192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AF8FA"/>
                </a:solidFill>
                <a:latin typeface="Inter"/>
              </a:defRPr>
            </a:pPr>
            <a:r>
              <a:t>CashGuard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39" y="438912"/>
            <a:ext cx="9966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05 / АРХИТЕКТУРА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7744968"/>
            <a:ext cx="13441680" cy="10972"/>
          </a:xfrm>
          <a:prstGeom prst="rect">
            <a:avLst/>
          </a:prstGeom>
          <a:solidFill>
            <a:srgbClr val="342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7909560"/>
            <a:ext cx="8229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B5A8B4"/>
                </a:solidFill>
                <a:latin typeface="Inter"/>
              </a:defRPr>
            </a:pPr>
            <a:r>
              <a:t>FORTEWIN  /  КЕЙС FORTEBANK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0" y="7872983"/>
            <a:ext cx="548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34440"/>
            <a:ext cx="13258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3500" b="1">
                <a:solidFill>
                  <a:srgbClr val="FAF8FA"/>
                </a:solidFill>
                <a:latin typeface="Inter"/>
              </a:defRPr>
            </a:pPr>
            <a:r>
              <a:t>Несколько локальных моделей.</a:t>
            </a:r>
          </a:p>
          <a:p>
            <a:pPr>
              <a:spcAft>
                <a:spcPts val="0"/>
              </a:spcAft>
              <a:defRPr sz="3500" b="1">
                <a:solidFill>
                  <a:srgbClr val="FAF8FA"/>
                </a:solidFill>
                <a:latin typeface="Inter"/>
              </a:defRPr>
            </a:pPr>
            <a:r>
              <a:t>Один проверяемый результат.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926080"/>
            <a:ext cx="13258800" cy="4343400"/>
          </a:xfrm>
          <a:prstGeom prst="roundRect">
            <a:avLst>
              <a:gd name="adj" fmla="val 12000"/>
            </a:avLst>
          </a:prstGeom>
          <a:solidFill>
            <a:srgbClr val="111015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154680"/>
            <a:ext cx="1188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EFA7C6"/>
                </a:solidFill>
                <a:latin typeface="Inter"/>
              </a:defRPr>
            </a:pPr>
            <a:r>
              <a:t>ЛОКАЛЬНЫЙ КОНТУР ОБРАБОТКИ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976" y="3840480"/>
            <a:ext cx="2377440" cy="1984248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5568" y="406908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FAF8FA"/>
                </a:solidFill>
                <a:latin typeface="Inter"/>
              </a:defRPr>
            </a:pPr>
            <a:r>
              <a:t>Веб + 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4773168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B5A8B4"/>
                </a:solidFill>
                <a:latin typeface="Inter"/>
              </a:defRPr>
            </a:pPr>
            <a:r>
              <a:t>React / TypeScript</a:t>
            </a:r>
          </a:p>
          <a:p>
            <a:pPr>
              <a:spcAft>
                <a:spcPts val="1000"/>
              </a:spcAft>
              <a:defRPr sz="1600" b="0">
                <a:solidFill>
                  <a:srgbClr val="B5A8B4"/>
                </a:solidFill>
                <a:latin typeface="Inter"/>
              </a:defRPr>
            </a:pPr>
            <a:r>
              <a:t>Go / Gin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46704" y="4480560"/>
            <a:ext cx="274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EFA7C6"/>
                </a:solidFill>
                <a:latin typeface="Inter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3840480"/>
            <a:ext cx="2377440" cy="1984248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12463" y="406908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FAF8FA"/>
                </a:solidFill>
                <a:latin typeface="Inter"/>
              </a:defRPr>
            </a:pPr>
            <a:r>
              <a:t>Восприятие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12463" y="4773168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B5A8B4"/>
                </a:solidFill>
                <a:latin typeface="Inter"/>
              </a:defRPr>
            </a:pPr>
            <a:r>
              <a:t>YOLOX + RTMPose</a:t>
            </a:r>
          </a:p>
          <a:p>
            <a:pPr>
              <a:spcAft>
                <a:spcPts val="1000"/>
              </a:spcAft>
              <a:defRPr sz="1600" b="0">
                <a:solidFill>
                  <a:srgbClr val="B5A8B4"/>
                </a:solidFill>
                <a:latin typeface="Inter"/>
              </a:defRPr>
            </a:pPr>
            <a:r>
              <a:t>Треки и зоны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4480560"/>
            <a:ext cx="274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EFA7C6"/>
                </a:solidFill>
                <a:latin typeface="Inter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4768" y="3840480"/>
            <a:ext cx="2377440" cy="1984248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59" y="406908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FAF8FA"/>
                </a:solidFill>
                <a:latin typeface="Inter"/>
              </a:defRPr>
            </a:pPr>
            <a:r>
              <a:t>Проверка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4773168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B5A8B4"/>
                </a:solidFill>
                <a:latin typeface="Inter"/>
              </a:defRPr>
            </a:pPr>
            <a:r>
              <a:t>CLIP / OWLv2</a:t>
            </a:r>
          </a:p>
          <a:p>
            <a:pPr>
              <a:spcAft>
                <a:spcPts val="1000"/>
              </a:spcAft>
              <a:defRPr sz="1600" b="0">
                <a:solidFill>
                  <a:srgbClr val="B5A8B4"/>
                </a:solidFill>
                <a:latin typeface="Inter"/>
              </a:defRPr>
            </a:pPr>
            <a:r>
              <a:t>Qwen3-VL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0496" y="4480560"/>
            <a:ext cx="274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EFA7C6"/>
                </a:solidFill>
                <a:latin typeface="Inter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741663" y="3840480"/>
            <a:ext cx="2377440" cy="1984248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06255" y="406908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FAF8FA"/>
                </a:solidFill>
                <a:latin typeface="Inter"/>
              </a:defRPr>
            </a:pPr>
            <a:r>
              <a:t>События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06255" y="4773168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B5A8B4"/>
                </a:solidFill>
                <a:latin typeface="Inter"/>
              </a:defRPr>
            </a:pPr>
            <a:r>
              <a:t>Обученный скорер</a:t>
            </a:r>
          </a:p>
          <a:p>
            <a:pPr>
              <a:spcAft>
                <a:spcPts val="1000"/>
              </a:spcAft>
              <a:defRPr sz="1600" b="0">
                <a:solidFill>
                  <a:srgbClr val="B5A8B4"/>
                </a:solidFill>
                <a:latin typeface="Inter"/>
              </a:defRPr>
            </a:pPr>
            <a:r>
              <a:t>Дедупликация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37392" y="4480560"/>
            <a:ext cx="274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EFA7C6"/>
                </a:solidFill>
                <a:latin typeface="Inter"/>
              </a:defRPr>
            </a:pPr>
            <a: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338559" y="3840480"/>
            <a:ext cx="2377440" cy="1984248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503151" y="406908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FAF8FA"/>
                </a:solidFill>
                <a:latin typeface="Inter"/>
              </a:defRPr>
            </a:pPr>
            <a:r>
              <a:t>Результат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503151" y="4773168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B5A8B4"/>
                </a:solidFill>
                <a:latin typeface="Inter"/>
              </a:defRPr>
            </a:pPr>
            <a:r>
              <a:t>JSON + кадры</a:t>
            </a:r>
          </a:p>
          <a:p>
            <a:pPr>
              <a:spcAft>
                <a:spcPts val="1000"/>
              </a:spcAft>
              <a:defRPr sz="1600" b="0">
                <a:solidFill>
                  <a:srgbClr val="B5A8B4"/>
                </a:solidFill>
                <a:latin typeface="Inter"/>
              </a:defRPr>
            </a:pPr>
            <a:r>
              <a:t>Нормативы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" y="6492240"/>
            <a:ext cx="12161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B5A8B4"/>
                </a:solidFill>
                <a:latin typeface="Inter"/>
              </a:defRPr>
            </a:pPr>
            <a:r>
              <a:t>Хранение заданий: PostgreSQL / SQLite   •   Видео: локальное файловое хранилище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ashguard-for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84048"/>
            <a:ext cx="384048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60704" y="393192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AF8FA"/>
                </a:solidFill>
                <a:latin typeface="Inter"/>
              </a:defRPr>
            </a:pPr>
            <a:r>
              <a:t>CashGuard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39" y="438912"/>
            <a:ext cx="9966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06 / ДАННЫЕ И ГРАНИЦЫ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7744968"/>
            <a:ext cx="13441680" cy="10972"/>
          </a:xfrm>
          <a:prstGeom prst="rect">
            <a:avLst/>
          </a:prstGeom>
          <a:solidFill>
            <a:srgbClr val="342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7909560"/>
            <a:ext cx="8229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B5A8B4"/>
                </a:solidFill>
                <a:latin typeface="Inter"/>
              </a:defRPr>
            </a:pPr>
            <a:r>
              <a:t>FORTEWIN  /  КЕЙС FORTEBANK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0" y="7872983"/>
            <a:ext cx="548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34440"/>
            <a:ext cx="13258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3700" b="1">
                <a:solidFill>
                  <a:srgbClr val="FAF8FA"/>
                </a:solidFill>
                <a:latin typeface="Inter"/>
              </a:defRPr>
            </a:pPr>
            <a:r>
              <a:t>Видео остаётся внутри контура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377440"/>
            <a:ext cx="13075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B5A8B4"/>
                </a:solidFill>
                <a:latin typeface="Inter"/>
              </a:defRPr>
            </a:pPr>
            <a:r>
              <a:t>Локальный инференс после загрузки весов моделей.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971800"/>
            <a:ext cx="4251960" cy="352044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3200400"/>
            <a:ext cx="3794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EFA7C6"/>
                </a:solidFill>
                <a:latin typeface="Inter"/>
              </a:defRPr>
            </a:pPr>
            <a:r>
              <a:t>ЛОКАЛЬНО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3840480"/>
            <a:ext cx="373989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400" b="1">
                <a:solidFill>
                  <a:srgbClr val="FAF8FA"/>
                </a:solidFill>
                <a:latin typeface="Inter"/>
              </a:defRPr>
            </a:pPr>
            <a:r>
              <a:t>Без облачного 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4800600"/>
            <a:ext cx="3739896" cy="1581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Обработка кадров и работа</a:t>
            </a:r>
          </a:p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моделей на своём оборудовании.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93792" y="2971800"/>
            <a:ext cx="4251960" cy="352044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49824" y="3200400"/>
            <a:ext cx="3794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EFA7C6"/>
                </a:solidFill>
                <a:latin typeface="Inter"/>
              </a:defRPr>
            </a:pPr>
            <a:r>
              <a:t>НАБЛЮДАЕМО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9824" y="3840480"/>
            <a:ext cx="373989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400" b="1">
                <a:solidFill>
                  <a:srgbClr val="FAF8FA"/>
                </a:solidFill>
                <a:latin typeface="Inter"/>
              </a:defRPr>
            </a:pPr>
            <a:r>
              <a:t>Без идентификации лиц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9824" y="4800600"/>
            <a:ext cx="3739896" cy="1581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Анализ видимых действий,</a:t>
            </a:r>
          </a:p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объектов и положения в сцене.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701784" y="2971800"/>
            <a:ext cx="4251960" cy="352044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957815" y="3200400"/>
            <a:ext cx="3794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EFA7C6"/>
                </a:solidFill>
                <a:latin typeface="Inter"/>
              </a:defRPr>
            </a:pPr>
            <a:r>
              <a:t>ПРОВЕРЯЕМО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57815" y="3840480"/>
            <a:ext cx="373989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400" b="1">
                <a:solidFill>
                  <a:srgbClr val="FAF8FA"/>
                </a:solidFill>
                <a:latin typeface="Inter"/>
              </a:defRPr>
            </a:pPr>
            <a:r>
              <a:t>Человек принимает решение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57815" y="4800600"/>
            <a:ext cx="3739896" cy="1581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Сигнал модели — основание</a:t>
            </a:r>
          </a:p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для проверки, не санкция.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903720"/>
            <a:ext cx="131673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EFA7C6"/>
                </a:solidFill>
                <a:latin typeface="Inter"/>
              </a:defRPr>
            </a:pPr>
            <a:r>
              <a:t>Невидимые операции, документы и действия вне кадра нельзя считать установленными фактами.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ashguard-for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84048"/>
            <a:ext cx="384048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60704" y="393192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AF8FA"/>
                </a:solidFill>
                <a:latin typeface="Inter"/>
              </a:defRPr>
            </a:pPr>
            <a:r>
              <a:t>CashGuard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39" y="438912"/>
            <a:ext cx="9966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07 / КАЧЕСТВО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7744968"/>
            <a:ext cx="13441680" cy="10972"/>
          </a:xfrm>
          <a:prstGeom prst="rect">
            <a:avLst/>
          </a:prstGeom>
          <a:solidFill>
            <a:srgbClr val="342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7909560"/>
            <a:ext cx="8229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B5A8B4"/>
                </a:solidFill>
                <a:latin typeface="Inter"/>
              </a:defRPr>
            </a:pPr>
            <a:r>
              <a:t>FORTEWIN  /  КЕЙС FORTEBANK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0" y="7872983"/>
            <a:ext cx="548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34440"/>
            <a:ext cx="13258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3500" b="1">
                <a:solidFill>
                  <a:srgbClr val="FAF8FA"/>
                </a:solidFill>
                <a:latin typeface="Inter"/>
              </a:defRPr>
            </a:pPr>
            <a:r>
              <a:t>Качество измеряем.</a:t>
            </a:r>
          </a:p>
          <a:p>
            <a:pPr>
              <a:spcAft>
                <a:spcPts val="0"/>
              </a:spcAft>
              <a:defRPr sz="3500" b="1">
                <a:solidFill>
                  <a:srgbClr val="FAF8FA"/>
                </a:solidFill>
                <a:latin typeface="Inter"/>
              </a:defRPr>
            </a:pPr>
            <a:r>
              <a:t>Пропуски не скрываем.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606040"/>
            <a:ext cx="13075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B5A8B4"/>
                </a:solidFill>
                <a:latin typeface="Inter"/>
              </a:defRPr>
            </a:pPr>
            <a:r>
              <a:t>Последний сохранённый отчёт разработки: 40 видео, 17 октября 2026.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310128"/>
            <a:ext cx="4069080" cy="224028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3566160"/>
            <a:ext cx="36576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4500" b="1">
                <a:solidFill>
                  <a:srgbClr val="EFA7C6"/>
                </a:solidFill>
                <a:latin typeface="Inter"/>
              </a:defRPr>
            </a:pPr>
            <a:r>
              <a:t>77,5%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4498848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FAF8FA"/>
                </a:solidFill>
                <a:latin typeface="Inter"/>
              </a:defRPr>
            </a:pPr>
            <a:r>
              <a:t>Верный вердикт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509320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B5A8B4"/>
                </a:solidFill>
                <a:latin typeface="Inter"/>
              </a:defRPr>
            </a:pPr>
            <a:r>
              <a:t>Групповая проверка разработки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85232" y="3310128"/>
            <a:ext cx="4069080" cy="224028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32120" y="3566160"/>
            <a:ext cx="36576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4500" b="1">
                <a:solidFill>
                  <a:srgbClr val="EFA7C6"/>
                </a:solidFill>
                <a:latin typeface="Inter"/>
              </a:defRPr>
            </a:pPr>
            <a:r>
              <a:t>12 / 21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32120" y="4498848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FAF8FA"/>
                </a:solidFill>
                <a:latin typeface="Inter"/>
              </a:defRPr>
            </a:pPr>
            <a:r>
              <a:t>Найдено позитивных видео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32120" y="509320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B5A8B4"/>
                </a:solidFill>
                <a:latin typeface="Inter"/>
              </a:defRPr>
            </a:pPr>
            <a:r>
              <a:t>9 пропусков в той же проверке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838944" y="3310128"/>
            <a:ext cx="4069080" cy="224028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85832" y="3566160"/>
            <a:ext cx="36576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4500" b="1">
                <a:solidFill>
                  <a:srgbClr val="EFA7C6"/>
                </a:solidFill>
                <a:latin typeface="Inter"/>
              </a:defRPr>
            </a:pPr>
            <a:r>
              <a:t>0 / 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85832" y="4498848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FAF8FA"/>
                </a:solidFill>
                <a:latin typeface="Inter"/>
              </a:defRPr>
            </a:pPr>
            <a:r>
              <a:t>Ложных тревог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85832" y="509320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B5A8B4"/>
                </a:solidFill>
                <a:latin typeface="Inter"/>
              </a:defRPr>
            </a:pPr>
            <a:r>
              <a:t>На негативных видео отчёта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5888736"/>
            <a:ext cx="13167360" cy="1316736"/>
          </a:xfrm>
          <a:prstGeom prst="roundRect">
            <a:avLst>
              <a:gd name="adj" fmla="val 12000"/>
            </a:avLst>
          </a:prstGeom>
          <a:solidFill>
            <a:srgbClr val="281322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6080760"/>
            <a:ext cx="12618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FAF8FA"/>
                </a:solidFill>
                <a:latin typeface="Inter"/>
              </a:defRPr>
            </a:pPr>
            <a:r>
              <a:t>90% на обучающем наборе — не качество на новых видео.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" y="6647688"/>
            <a:ext cx="126187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B5A8B4"/>
                </a:solidFill>
                <a:latin typeface="Inter"/>
              </a:defRPr>
            </a:pPr>
            <a:r>
              <a:t>Все 40 видео использовались в разработке; независимый тест ещё нужен. Полнота по событиям не измерена.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ashguard-for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84048"/>
            <a:ext cx="384048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60704" y="393192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AF8FA"/>
                </a:solidFill>
                <a:latin typeface="Inter"/>
              </a:defRPr>
            </a:pPr>
            <a:r>
              <a:t>CashGuard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39" y="438912"/>
            <a:ext cx="9966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08 / СЛЕДУЮЩИЙ ШАГ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7744968"/>
            <a:ext cx="13441680" cy="10972"/>
          </a:xfrm>
          <a:prstGeom prst="rect">
            <a:avLst/>
          </a:prstGeom>
          <a:solidFill>
            <a:srgbClr val="342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7909560"/>
            <a:ext cx="8229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B5A8B4"/>
                </a:solidFill>
                <a:latin typeface="Inter"/>
              </a:defRPr>
            </a:pPr>
            <a:r>
              <a:t>FORTEWIN  /  КЕЙС FORTEBANK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0" y="7872983"/>
            <a:ext cx="548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34440"/>
            <a:ext cx="13258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3500" b="1">
                <a:solidFill>
                  <a:srgbClr val="FAF8FA"/>
                </a:solidFill>
                <a:latin typeface="Inter"/>
              </a:defRPr>
            </a:pPr>
            <a:r>
              <a:t>Учить последовательность,</a:t>
            </a:r>
          </a:p>
          <a:p>
            <a:pPr>
              <a:spcAft>
                <a:spcPts val="0"/>
              </a:spcAft>
              <a:defRPr sz="3500" b="1">
                <a:solidFill>
                  <a:srgbClr val="FAF8FA"/>
                </a:solidFill>
                <a:latin typeface="Inter"/>
              </a:defRPr>
            </a:pPr>
            <a:r>
              <a:t>а не запоминать кадр.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606040"/>
            <a:ext cx="13075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B5A8B4"/>
                </a:solidFill>
                <a:latin typeface="Inter"/>
              </a:defRPr>
            </a:pPr>
            <a:r>
              <a:t>План развития — эти этапы ещё предстоит завершить.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971800"/>
            <a:ext cx="4251960" cy="365760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3200400"/>
            <a:ext cx="3794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EFA7C6"/>
                </a:solidFill>
                <a:latin typeface="Inter"/>
              </a:defRPr>
            </a:pPr>
            <a: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3840480"/>
            <a:ext cx="373989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400" b="1">
                <a:solidFill>
                  <a:srgbClr val="FAF8FA"/>
                </a:solidFill>
                <a:latin typeface="Inter"/>
              </a:defRPr>
            </a:pPr>
            <a:r>
              <a:t>Разметить события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4800600"/>
            <a:ext cx="3739896" cy="1719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Полный локальный просмотр.</a:t>
            </a:r>
          </a:p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Интервалы действий, доказательства</a:t>
            </a:r>
          </a:p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и нормальные альтернативы.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93792" y="2971800"/>
            <a:ext cx="4251960" cy="365760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49824" y="3200400"/>
            <a:ext cx="3794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EFA7C6"/>
                </a:solidFill>
                <a:latin typeface="Inter"/>
              </a:defRPr>
            </a:pPr>
            <a: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9824" y="3840480"/>
            <a:ext cx="373989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400" b="1">
                <a:solidFill>
                  <a:srgbClr val="FAF8FA"/>
                </a:solidFill>
                <a:latin typeface="Inter"/>
              </a:defRPr>
            </a:pPr>
            <a:r>
              <a:t>Добавить контекст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9824" y="4800600"/>
            <a:ext cx="3739896" cy="1719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Состояния операции во времени.</a:t>
            </a:r>
          </a:p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Раздельно: не произошло</a:t>
            </a:r>
          </a:p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и не было видно.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701784" y="2971800"/>
            <a:ext cx="4251960" cy="365760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957815" y="3200400"/>
            <a:ext cx="3794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EFA7C6"/>
                </a:solidFill>
                <a:latin typeface="Inter"/>
              </a:defRPr>
            </a:pPr>
            <a: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57815" y="3840480"/>
            <a:ext cx="373989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400" b="1">
                <a:solidFill>
                  <a:srgbClr val="FAF8FA"/>
                </a:solidFill>
                <a:latin typeface="Inter"/>
              </a:defRPr>
            </a:pPr>
            <a:r>
              <a:t>Проверить перенос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57815" y="4800600"/>
            <a:ext cx="3739896" cy="1719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Новые сцены и ракурсы.</a:t>
            </a:r>
          </a:p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Разделение по видео и камерам.</a:t>
            </a:r>
          </a:p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Контроль пропусков и времени.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995160"/>
            <a:ext cx="13167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EFA7C6"/>
                </a:solidFill>
                <a:latin typeface="Inter"/>
              </a:defRPr>
            </a:pPr>
            <a:r>
              <a:t>Критерий прогресса: меньше пропусков на новых сценах при контролируемом числе ложных тревог.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ashguard-for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84048"/>
            <a:ext cx="384048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60704" y="393192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AF8FA"/>
                </a:solidFill>
                <a:latin typeface="Inter"/>
              </a:defRPr>
            </a:pPr>
            <a:r>
              <a:t>CashGuard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39" y="438912"/>
            <a:ext cx="9966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09 / ПИЛОТ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7744968"/>
            <a:ext cx="13441680" cy="10972"/>
          </a:xfrm>
          <a:prstGeom prst="rect">
            <a:avLst/>
          </a:prstGeom>
          <a:solidFill>
            <a:srgbClr val="342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7909560"/>
            <a:ext cx="8229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B5A8B4"/>
                </a:solidFill>
                <a:latin typeface="Inter"/>
              </a:defRPr>
            </a:pPr>
            <a:r>
              <a:t>FORTEWIN  /  КЕЙС FORTEBANK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0" y="7872983"/>
            <a:ext cx="548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34440"/>
            <a:ext cx="13258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3700" b="1">
                <a:solidFill>
                  <a:srgbClr val="FAF8FA"/>
                </a:solidFill>
                <a:latin typeface="Inter"/>
              </a:defRPr>
            </a:pPr>
            <a:r>
              <a:t>Что проверяем перед внедрением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377440"/>
            <a:ext cx="13075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B5A8B4"/>
                </a:solidFill>
                <a:latin typeface="Inter"/>
              </a:defRPr>
            </a:pPr>
            <a:r>
              <a:t>Переход от работающего прототипа к надёжному инструменту.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35808"/>
            <a:ext cx="13167360" cy="82296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" y="3236976"/>
            <a:ext cx="2880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EFA7C6"/>
                </a:solidFill>
                <a:latin typeface="Inter"/>
              </a:defRPr>
            </a:pPr>
            <a:r>
              <a:t>Качество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05072" y="3255263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FAF8FA"/>
                </a:solidFill>
                <a:latin typeface="Inter"/>
              </a:defRPr>
            </a:pPr>
            <a:r>
              <a:t>Пропуски, ложные тревоги, тип и таймкод каждого события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95928"/>
            <a:ext cx="13167360" cy="82296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9264" y="4197096"/>
            <a:ext cx="2880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EFA7C6"/>
                </a:solidFill>
                <a:latin typeface="Inter"/>
              </a:defRPr>
            </a:pPr>
            <a:r>
              <a:t>Новые камеры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05072" y="4215384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FAF8FA"/>
                </a:solidFill>
                <a:latin typeface="Inter"/>
              </a:defRPr>
            </a:pPr>
            <a:r>
              <a:t>Устойчивость к ракурсу, освещению и частичным перекрытиям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956048"/>
            <a:ext cx="13167360" cy="82296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5157216"/>
            <a:ext cx="2880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EFA7C6"/>
                </a:solidFill>
                <a:latin typeface="Inter"/>
              </a:defRPr>
            </a:pPr>
            <a:r>
              <a:t>Скорость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05072" y="5175504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FAF8FA"/>
                </a:solidFill>
                <a:latin typeface="Inter"/>
              </a:defRPr>
            </a:pPr>
            <a:r>
              <a:t>Не более 5 минут от загрузки — вместе с ожиданием в очереди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916168"/>
            <a:ext cx="13167360" cy="82296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9264" y="6117336"/>
            <a:ext cx="2880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EFA7C6"/>
                </a:solidFill>
                <a:latin typeface="Inter"/>
              </a:defRPr>
            </a:pPr>
            <a:r>
              <a:t>Польза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05072" y="6135624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FAF8FA"/>
                </a:solidFill>
                <a:latin typeface="Inter"/>
              </a:defRPr>
            </a:pPr>
            <a:r>
              <a:t>Время ручной проверки и доля подтверждённых сигналов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7187184"/>
            <a:ext cx="1280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B5A8B4"/>
                </a:solidFill>
                <a:latin typeface="Inter"/>
              </a:defRPr>
            </a:pPr>
            <a:r>
              <a:t>Условие пилота: согласованные метрики и отдельные данные для оценки.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ero-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pic>
        <p:nvPicPr>
          <p:cNvPr id="3" name="Picture 2" descr="cashguard-for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84048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60704" y="393192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AF8FA"/>
                </a:solidFill>
                <a:latin typeface="Inter"/>
              </a:defRPr>
            </a:pPr>
            <a:r>
              <a:t>CashGuard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49039" y="438912"/>
            <a:ext cx="9966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10 / ДЕМОНСТРАЦИЯ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7744968"/>
            <a:ext cx="13441680" cy="10972"/>
          </a:xfrm>
          <a:prstGeom prst="rect">
            <a:avLst/>
          </a:prstGeom>
          <a:solidFill>
            <a:srgbClr val="342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7909560"/>
            <a:ext cx="8229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B5A8B4"/>
                </a:solidFill>
                <a:latin typeface="Inter"/>
              </a:defRPr>
            </a:pPr>
            <a:r>
              <a:t>FORTEWIN  /  КЕЙС FORTEBANK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0" y="7872983"/>
            <a:ext cx="548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11</a:t>
            </a:r>
          </a:p>
        </p:txBody>
      </p:sp>
      <p:pic>
        <p:nvPicPr>
          <p:cNvPr id="9" name="Picture 8" descr="forte-he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52760" y="1417320"/>
            <a:ext cx="2743200" cy="41806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1737360"/>
            <a:ext cx="914400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6600" b="1">
                <a:solidFill>
                  <a:srgbClr val="FAF8FA"/>
                </a:solidFill>
                <a:latin typeface="Inter"/>
              </a:defRPr>
            </a:pPr>
            <a:r>
              <a:t>CashGuard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3154680"/>
            <a:ext cx="1005840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4700" b="1">
                <a:solidFill>
                  <a:srgbClr val="FAF8FA"/>
                </a:solidFill>
                <a:latin typeface="Inter"/>
              </a:defRPr>
            </a:pPr>
            <a:r>
              <a:t>Каждый сигнал</a:t>
            </a:r>
          </a:p>
          <a:p>
            <a:pPr>
              <a:spcAft>
                <a:spcPts val="1000"/>
              </a:spcAft>
              <a:defRPr sz="4700" b="1">
                <a:solidFill>
                  <a:srgbClr val="FAF8FA"/>
                </a:solidFill>
                <a:latin typeface="Inter"/>
              </a:defRPr>
            </a:pPr>
            <a:r>
              <a:t>можно проверить.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577840"/>
            <a:ext cx="116128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EFA7C6"/>
                </a:solidFill>
                <a:latin typeface="Inter"/>
              </a:defRPr>
            </a:pPr>
            <a:r>
              <a:t>Видео → событие → доказательства → решение человека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6702552"/>
            <a:ext cx="4937760" cy="576072"/>
          </a:xfrm>
          <a:prstGeom prst="roundRect">
            <a:avLst>
              <a:gd name="adj" fmla="val 12000"/>
            </a:avLst>
          </a:prstGeom>
          <a:solidFill>
            <a:srgbClr val="B91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687628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FAF8FA"/>
                </a:solidFill>
                <a:latin typeface="Inter"/>
              </a:defRPr>
            </a:pPr>
            <a:r>
              <a:t>ДЕМОНСТРАЦИЯ РАБОЧЕГО СЦЕНАРИЯ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ashguard-for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84048"/>
            <a:ext cx="384048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60704" y="393192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AF8FA"/>
                </a:solidFill>
                <a:latin typeface="Inter"/>
              </a:defRPr>
            </a:pPr>
            <a:r>
              <a:t>CashGuard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39" y="438912"/>
            <a:ext cx="9966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ПРИЛОЖЕНИЕ A / API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7744968"/>
            <a:ext cx="13441680" cy="10972"/>
          </a:xfrm>
          <a:prstGeom prst="rect">
            <a:avLst/>
          </a:prstGeom>
          <a:solidFill>
            <a:srgbClr val="342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7909560"/>
            <a:ext cx="8229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B5A8B4"/>
                </a:solidFill>
                <a:latin typeface="Inter"/>
              </a:defRPr>
            </a:pPr>
            <a:r>
              <a:t>FORTEWIN  /  КЕЙС FORTEBANK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0" y="7872983"/>
            <a:ext cx="548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34440"/>
            <a:ext cx="13258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3700" b="1">
                <a:solidFill>
                  <a:srgbClr val="FAF8FA"/>
                </a:solidFill>
                <a:latin typeface="Inter"/>
              </a:defRPr>
            </a:pPr>
            <a:r>
              <a:t>Контракт для автоматической проверки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377440"/>
            <a:ext cx="13075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B5A8B4"/>
                </a:solidFill>
                <a:latin typeface="Inter"/>
              </a:defRPr>
            </a:pPr>
            <a:r>
              <a:t>API-ключ передаётся в X-API-Key. Секреты в презентацию не включены.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971800"/>
            <a:ext cx="7909560" cy="402336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3337560"/>
            <a:ext cx="73152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400" b="1">
                <a:solidFill>
                  <a:srgbClr val="EFA7C6"/>
                </a:solidFill>
                <a:latin typeface="Inter"/>
              </a:defRPr>
            </a:pPr>
            <a:r>
              <a:t>POST  /api/v1/analyze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3977639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B5A8B4"/>
                </a:solidFill>
                <a:latin typeface="Inter"/>
              </a:defRPr>
            </a:pPr>
            <a:r>
              <a:t>multipart/form-data: file  →  job_id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4818888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400" b="1">
                <a:solidFill>
                  <a:srgbClr val="EFA7C6"/>
                </a:solidFill>
                <a:latin typeface="Inter"/>
              </a:defRPr>
            </a:pPr>
            <a:r>
              <a:t>GET  /api/v1/jobs/{job_id}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5559552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B5A8B4"/>
                </a:solidFill>
                <a:latin typeface="Inter"/>
              </a:defRPr>
            </a:pPr>
            <a:r>
              <a:t>status  ·  verdict  ·  violations[]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0" y="329184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700" b="1">
                <a:solidFill>
                  <a:srgbClr val="FAF8FA"/>
                </a:solidFill>
                <a:latin typeface="Inter"/>
              </a:defRPr>
            </a:pPr>
            <a:r>
              <a:t>Выход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4096512"/>
            <a:ext cx="438912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B5A8B4"/>
                </a:solidFill>
                <a:latin typeface="Inter"/>
              </a:defRPr>
            </a:pPr>
            <a:r>
              <a:t>Тип и описание</a:t>
            </a:r>
          </a:p>
          <a:p>
            <a:pPr>
              <a:spcAft>
                <a:spcPts val="1000"/>
              </a:spcAft>
              <a:defRPr sz="2200" b="0">
                <a:solidFill>
                  <a:srgbClr val="B5A8B4"/>
                </a:solidFill>
                <a:latin typeface="Inter"/>
              </a:defRPr>
            </a:pPr>
            <a:r>
              <a:t>Таймкод в секундах</a:t>
            </a:r>
          </a:p>
          <a:p>
            <a:pPr>
              <a:spcAft>
                <a:spcPts val="1000"/>
              </a:spcAft>
              <a:defRPr sz="2200" b="0">
                <a:solidFill>
                  <a:srgbClr val="B5A8B4"/>
                </a:solidFill>
                <a:latin typeface="Inter"/>
              </a:defRPr>
            </a:pPr>
            <a:r>
              <a:t>1–3 JPEG-кадра</a:t>
            </a:r>
          </a:p>
          <a:p>
            <a:pPr>
              <a:spcAft>
                <a:spcPts val="1000"/>
              </a:spcAft>
              <a:defRPr sz="2200" b="0">
                <a:solidFill>
                  <a:srgbClr val="B5A8B4"/>
                </a:solidFill>
                <a:latin typeface="Inter"/>
              </a:defRPr>
            </a:pPr>
            <a:r>
              <a:t>Нормативная ссылка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7287768"/>
            <a:ext cx="13167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EFA7C6"/>
                </a:solidFill>
                <a:latin typeface="Inter"/>
              </a:defRPr>
            </a:pPr>
            <a:r>
              <a:t>Бинарный verdict: violation / no_violation. Техническая ошибка должна оставаться failed.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ashguard-for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84048"/>
            <a:ext cx="384048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60704" y="393192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AF8FA"/>
                </a:solidFill>
                <a:latin typeface="Inter"/>
              </a:defRPr>
            </a:pPr>
            <a:r>
              <a:t>CashGuard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39" y="438912"/>
            <a:ext cx="9966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ПРИЛОЖЕНИЕ B / КОНЦЕПТ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7744968"/>
            <a:ext cx="13441680" cy="10972"/>
          </a:xfrm>
          <a:prstGeom prst="rect">
            <a:avLst/>
          </a:prstGeom>
          <a:solidFill>
            <a:srgbClr val="342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7909560"/>
            <a:ext cx="8229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B5A8B4"/>
                </a:solidFill>
                <a:latin typeface="Inter"/>
              </a:defRPr>
            </a:pPr>
            <a:r>
              <a:t>FORTEWIN  /  КЕЙС FORTEBANK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0" y="7872983"/>
            <a:ext cx="548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34440"/>
            <a:ext cx="13258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3500" b="1">
                <a:solidFill>
                  <a:srgbClr val="FAF8FA"/>
                </a:solidFill>
                <a:latin typeface="Inter"/>
              </a:defRPr>
            </a:pPr>
            <a:r>
              <a:t>Три уровня для человека.</a:t>
            </a:r>
          </a:p>
          <a:p>
            <a:pPr>
              <a:spcAft>
                <a:spcPts val="0"/>
              </a:spcAft>
              <a:defRPr sz="3500" b="1">
                <a:solidFill>
                  <a:srgbClr val="FAF8FA"/>
                </a:solidFill>
                <a:latin typeface="Inter"/>
              </a:defRPr>
            </a:pPr>
            <a:r>
              <a:t>Два вердикта для API.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606040"/>
            <a:ext cx="13075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B5A8B4"/>
                </a:solidFill>
                <a:latin typeface="Inter"/>
              </a:defRPr>
            </a:pPr>
            <a:r>
              <a:t>Предложение для следующей версии интерфейса — пока не внедрено.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46120"/>
            <a:ext cx="4069080" cy="310896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" y="3511296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500" b="1">
                <a:solidFill>
                  <a:srgbClr val="8BD6AC"/>
                </a:solidFill>
                <a:latin typeface="Inter"/>
              </a:defRPr>
            </a:pPr>
            <a: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4251960"/>
            <a:ext cx="3611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600" b="1">
                <a:solidFill>
                  <a:srgbClr val="FAF8FA"/>
                </a:solidFill>
                <a:latin typeface="Inter"/>
              </a:defRPr>
            </a:pPr>
            <a:r>
              <a:t>Признаки не обнаружены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5733288"/>
            <a:ext cx="3611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8BD6AC"/>
                </a:solidFill>
                <a:latin typeface="Inter"/>
              </a:defRPr>
            </a:pPr>
            <a:r>
              <a:t>API → no_violation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85232" y="3246120"/>
            <a:ext cx="4069080" cy="310896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22976" y="3511296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500" b="1">
                <a:solidFill>
                  <a:srgbClr val="E8BB77"/>
                </a:solidFill>
                <a:latin typeface="Inter"/>
              </a:defRPr>
            </a:pPr>
            <a: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22976" y="4251960"/>
            <a:ext cx="3611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600" b="1">
                <a:solidFill>
                  <a:srgbClr val="FAF8FA"/>
                </a:solidFill>
                <a:latin typeface="Inter"/>
              </a:defRPr>
            </a:pPr>
            <a:r>
              <a:t>Возможное нарушение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22976" y="5733288"/>
            <a:ext cx="3611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E8BB77"/>
                </a:solidFill>
                <a:latin typeface="Inter"/>
              </a:defRPr>
            </a:pPr>
            <a:r>
              <a:t>API → violation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838944" y="3246120"/>
            <a:ext cx="4069080" cy="310896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76688" y="3511296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500" b="1">
                <a:solidFill>
                  <a:srgbClr val="EFA7C6"/>
                </a:solidFill>
                <a:latin typeface="Inter"/>
              </a:defRPr>
            </a:pPr>
            <a: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76688" y="4251960"/>
            <a:ext cx="3611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600" b="1">
                <a:solidFill>
                  <a:srgbClr val="FAF8FA"/>
                </a:solidFill>
                <a:latin typeface="Inter"/>
              </a:defRPr>
            </a:pPr>
            <a:r>
              <a:t>Выраженные признаки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76688" y="5733288"/>
            <a:ext cx="3611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EFA7C6"/>
                </a:solidFill>
                <a:latin typeface="Inter"/>
              </a:defRPr>
            </a:pPr>
            <a:r>
              <a:t>API → violation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903720"/>
            <a:ext cx="12984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Полнота анализа — отдельный признак. Плохая видимость не доказывает отсутствие нарушения.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ashguard-for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84048"/>
            <a:ext cx="384048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60704" y="393192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AF8FA"/>
                </a:solidFill>
                <a:latin typeface="Inter"/>
              </a:defRPr>
            </a:pPr>
            <a:r>
              <a:t>CashGuard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39" y="438912"/>
            <a:ext cx="9966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ПРИЛОЖЕНИЕ C / СОСТОЯНИЕ ПРОЕКТА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7744968"/>
            <a:ext cx="13441680" cy="10972"/>
          </a:xfrm>
          <a:prstGeom prst="rect">
            <a:avLst/>
          </a:prstGeom>
          <a:solidFill>
            <a:srgbClr val="342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7909560"/>
            <a:ext cx="8229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B5A8B4"/>
                </a:solidFill>
                <a:latin typeface="Inter"/>
              </a:defRPr>
            </a:pPr>
            <a:r>
              <a:t>FORTEWIN  /  КЕЙС FORTEBANK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0" y="7872983"/>
            <a:ext cx="548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34440"/>
            <a:ext cx="13258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3700" b="1">
                <a:solidFill>
                  <a:srgbClr val="FAF8FA"/>
                </a:solidFill>
                <a:latin typeface="Inter"/>
              </a:defRPr>
            </a:pPr>
            <a:r>
              <a:t>Что готово. Что ещё нужно доказать.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788920"/>
            <a:ext cx="6446520" cy="329184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424927" y="2788920"/>
            <a:ext cx="6446520" cy="329184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072384"/>
            <a:ext cx="5852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700" b="1">
                <a:solidFill>
                  <a:srgbClr val="EFA7C6"/>
                </a:solidFill>
                <a:latin typeface="Inter"/>
              </a:defRPr>
            </a:pPr>
            <a:r>
              <a:t>Реализовано в коде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840480"/>
            <a:ext cx="585216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FAF8FA"/>
                </a:solidFill>
                <a:latin typeface="Inter"/>
              </a:defRPr>
            </a:pPr>
            <a:r>
              <a:t>Веб-интерфейс и API</a:t>
            </a:r>
          </a:p>
          <a:p>
            <a:pPr>
              <a:spcAft>
                <a:spcPts val="1000"/>
              </a:spcAft>
              <a:defRPr sz="2200" b="0">
                <a:solidFill>
                  <a:srgbClr val="FAF8FA"/>
                </a:solidFill>
                <a:latin typeface="Inter"/>
              </a:defRPr>
            </a:pPr>
            <a:r>
              <a:t>Локальный ML-пайплайн</a:t>
            </a:r>
          </a:p>
          <a:p>
            <a:pPr>
              <a:spcAft>
                <a:spcPts val="1000"/>
              </a:spcAft>
              <a:defRPr sz="2200" b="0">
                <a:solidFill>
                  <a:srgbClr val="FAF8FA"/>
                </a:solidFill>
                <a:latin typeface="Inter"/>
              </a:defRPr>
            </a:pPr>
            <a:r>
              <a:t>Кадры, таймкоды и экспорт</a:t>
            </a:r>
          </a:p>
          <a:p>
            <a:pPr>
              <a:spcAft>
                <a:spcPts val="1000"/>
              </a:spcAft>
              <a:defRPr sz="2200" b="0">
                <a:solidFill>
                  <a:srgbClr val="FAF8FA"/>
                </a:solidFill>
                <a:latin typeface="Inter"/>
              </a:defRPr>
            </a:pPr>
            <a:r>
              <a:t>Обучение, оценка и тесты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99248" y="3072384"/>
            <a:ext cx="5852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700" b="1">
                <a:solidFill>
                  <a:srgbClr val="E8BB77"/>
                </a:solidFill>
                <a:latin typeface="Inter"/>
              </a:defRPr>
            </a:pPr>
            <a:r>
              <a:t>Требует подтверждения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9248" y="3840480"/>
            <a:ext cx="585216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100" b="0">
                <a:solidFill>
                  <a:srgbClr val="FAF8FA"/>
                </a:solidFill>
                <a:latin typeface="Inter"/>
              </a:defRPr>
            </a:pPr>
            <a:r>
              <a:t>Качество на независимых сценах</a:t>
            </a:r>
          </a:p>
          <a:p>
            <a:pPr>
              <a:spcAft>
                <a:spcPts val="1000"/>
              </a:spcAft>
              <a:defRPr sz="2100" b="0">
                <a:solidFill>
                  <a:srgbClr val="FAF8FA"/>
                </a:solidFill>
                <a:latin typeface="Inter"/>
              </a:defRPr>
            </a:pPr>
            <a:r>
              <a:t>Полнота обнаружения событий</a:t>
            </a:r>
          </a:p>
          <a:p>
            <a:pPr>
              <a:spcAft>
                <a:spcPts val="1000"/>
              </a:spcAft>
              <a:defRPr sz="2100" b="0">
                <a:solidFill>
                  <a:srgbClr val="FAF8FA"/>
                </a:solidFill>
                <a:latin typeface="Inter"/>
              </a:defRPr>
            </a:pPr>
            <a:r>
              <a:t>Стабильные 5 минут с очередью</a:t>
            </a:r>
          </a:p>
          <a:p>
            <a:pPr>
              <a:spcAft>
                <a:spcPts val="1000"/>
              </a:spcAft>
              <a:defRPr sz="2100" b="0">
                <a:solidFill>
                  <a:srgbClr val="FAF8FA"/>
                </a:solidFill>
                <a:latin typeface="Inter"/>
              </a:defRPr>
            </a:pPr>
            <a:r>
              <a:t>Эффект на время работы проверяющего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6419088"/>
            <a:ext cx="1280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AF8FA"/>
                </a:solidFill>
                <a:latin typeface="Inter"/>
              </a:defRPr>
            </a:pPr>
            <a:r>
              <a:t>Основания презентации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6903720"/>
            <a:ext cx="13075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B5A8B4"/>
                </a:solidFill>
                <a:latin typeface="Inter"/>
              </a:defRPr>
            </a:pPr>
            <a:r>
              <a:t>ТЗ кейса · код frontend/backend/ML · сохранённый отчёт 17.10.2026 · текущий тёмный UI</a:t>
            </a:r>
          </a:p>
          <a:p>
            <a:pPr>
              <a:spcAft>
                <a:spcPts val="1000"/>
              </a:spcAft>
              <a:defRPr sz="1500" b="0">
                <a:solidFill>
                  <a:srgbClr val="B5A8B4"/>
                </a:solidFill>
                <a:latin typeface="Inter"/>
              </a:defRPr>
            </a:pPr>
            <a:r>
              <a:t>Подробные пути и оговорки — в заметках к слайдам и файле SOURCE_REVIEW.txt.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CashGuard — от видео к проверяемому событию</dc:title>
  <dc:subject>ForteWin / кейс ForteBank / Datathon 2026</dc:subject>
  <dc:creator>ForteWin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