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секунд. CashGuard анализирует запись кассы и выдаёт не просто «нарушение», а проверяемую карточку: что видно, когда, на каких кадрах и какой пункт норматива РК к этому относится. Всё работает локально, сервис уже доступен по публичному адресу.</a:t>
            </a:r>
          </a:p>
          <a:p/>
          <a:p>
            <a:r>
              <a:t>Источники: SUBMISSION.md; https://fortecashguard.up.railway.app/about.html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Первое — ноль ложных тревог: на всех 19 нормальных видео модель не подняла ни одной тревоги, в том числе когда камеру исключали из обучения. Второе — проверка «как на новой камере»: каждую из 7 постановок по очереди убирали из обучения и проверяли на ней — 77,5 % верных вердиктов. Третье — каждый тип нарушения связан с конкретным пунктом норматива РК и дословной цитатой.</a:t>
            </a:r>
          </a:p>
          <a:p/>
          <a:p>
            <a:r>
              <a:t>Источники: artifacts/checks-20261017/README.md (development CV 31/40, FP 0); docs/deploy_railway.md; app/rules/norms.yaml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Сценарий ровно как в ТЗ: загрузка, статус обработки, результат. Для каждого события — тип, таймкод, кадры и норма. Если анализ шёл в ограниченных условиях (длинное видео, очередь), сервис прямо говорит об этом, а не выдаёт уверенный ответ.</a:t>
            </a:r>
          </a:p>
          <a:p/>
          <a:p>
            <a:r>
              <a:t>Источники: src/frontend (review workspace); scripts/cashguard_analyzer.py; ТЗ §4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Описание собирается из измеренных признаков, а не генерируется свободным текстом — поэтому в нём нет выдуманных деталей. Формат: «Наблюдается — Квалификация — Норма с цитатой». Каждая карточка заканчивается оговоркой, что это подсказка для проверки человеком, как требует ТЗ §7.</a:t>
            </a:r>
          </a:p>
          <a:p/>
          <a:p>
            <a:r>
              <a:t>Источники: app/ml/pipeline.py (describe, TEMPLATES); app/rules/norms.yaml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секунд. Четыре открытые модели: YOLOX находит людей и предметы, RTMPose — позу, CLIP и OWLv2 проверяют смысл (напиток, пачка купюр, ключ в замке). Из треков строится сцена: кто кассир, где его стол, дверь, сейф. Решение принимает не нейросеть-«чёрный ящик», а обученные пороги по каждому типу с функцией потерь «пропуск в два раза дороже ложной тревоги». Всё упаковано в один контейнер.</a:t>
            </a:r>
          </a:p>
          <a:p/>
          <a:p>
            <a:r>
              <a:t>Источники: app/ml/{perception,tracking,events,candidates,semantic,ovd,scorer,pipeline}.py; Dockerfile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Финальное видео жюри снято под другим углом, поэтому мы с первого дня строили признаки без привязки к камере и проверяли это честно: по очереди убирали каждую из семи постановок камеры из обучения. Перед сдачей отдельно закрыли сценарии, которые ломаются на камере сверху.</a:t>
            </a:r>
          </a:p>
          <a:p/>
          <a:p>
            <a:r>
              <a:t>Источники: docs/research/07_camera_agnostic.md; configs/cabinets.json; app/ml/candidates.py (brief/dend gates)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секунд. Главная цифра для новых видео — 77,5 % на незнакомой камере. На всём датасете рабочий стенд даёт 35 из 40 — это оценка на данных разработки, мы её так и называем. Ложных тревог ноль. Таймкод в среднем ошибается на полсекунды, тип верен у 15 из 16 найденных. Пропуски есть: это действия рук с деньгами (возврат денег, приём без документа) — они в плане развития. Если спросят про полноту: на незнакомой камере найдено 12 из 21 видео с нарушениями.</a:t>
            </a:r>
          </a:p>
          <a:p/>
          <a:p>
            <a:r>
              <a:t>Источники: artifacts/checks-20261017/README.md; scripts/evaluate_cached.py (40 видео, рабочая конфигурация без VLM); docs/ml_model.md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Критерий «обоснованность правил» — 15 баллов, и здесь мы сильнее всего. Для каждого типа найден пункт в постановлениях НБРК и АРРФР, цитата сверена с adilet. Если норма описывает действие не напрямую, это прямо помечено как связанное требование. Мы не делаем выводов о том, чего нет в кадре.</a:t>
            </a:r>
          </a:p>
          <a:p/>
          <a:p>
            <a:r>
              <a:t>Источники: app/rules/norms.yaml; docs/normative_sources.md; /about.html §4–5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Мы проверили сервис так, как его будет проверять жюри: загрузили пять видео одновременно через публичный API — все пять получили результат меньше чем за четыре минуты. Самое длинное видео датасета — за три с половиной минуты. Если видео ждут в очереди, сервер делит время между ними, чтобы ни одно не осталось без ответа.</a:t>
            </a:r>
          </a:p>
          <a:p/>
          <a:p>
            <a:r>
              <a:t>Источники: docs/deploy_railway.md; scripts/smoke_jury.sh; scripts/smoke_queue.sh; src/backend/internal/usecase/service.go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секунд. Требование локальности выполнено полностью: после сборки образа интернет для анализа не нужен, поэтому сервис переносится во внутренний контур банка. Лица не распознаются. Лицензии всех компонентов разрешают коммерческое использование — это важно, так как права на решение остаются у банка.</a:t>
            </a:r>
          </a:p>
          <a:p/>
          <a:p>
            <a:r>
              <a:t>Источники: Dockerfile (HF_HUB_OFFLINE=1); ТЗ §7, FAQ 24, 29, 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За скобками остались эксперименты, которые выглядели многообещающе, но не прошли проверку на незнакомой камере. Мы фиксировали каждую такую попытку. Отсюда и ноль ложных тревог: в модель попадает только то, что доказало пользу.</a:t>
            </a:r>
          </a:p>
          <a:p/>
          <a:p>
            <a:r>
              <a:t>Источники: docs/ml_model.md (отрицательные результаты); docs/research/00_SUMMARY.md; docs/research/killer/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секунд. Следующий шаг — распознавание последовательности действий рук с деньгами: именно там наши текущие пропуски. Для этого уже готов протокол съёмки. Пилот в отделении измерит то, что важно банку: число ложных тревог на камеру и время работы контролёра.</a:t>
            </a:r>
          </a:p>
          <a:p/>
          <a:p>
            <a:r>
              <a:t>Источники: docs/research/killer/K6_data_fast.md; docs/research/killer/K4_unknown_types.md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Демонстрация: загрузить заранее проверенное видео, показать статус, вердикт, кадры, таймкод и карточку нормы. Затем открыть /about.html — справочник типов нарушений. Не утверждать, что система находит все нарушения.</a:t>
            </a:r>
          </a:p>
          <a:p/>
          <a:p>
            <a:r>
              <a:t>Источники: Основная часть: слайды 1–12, около 4 минут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 для вопросов про API.</a:t>
            </a:r>
          </a:p>
          <a:p/>
          <a:p>
            <a:r>
              <a:t>Источники: src/backend/internal/transport/http.go; scripts/smoke_jury.sh; docs/deploy_railway.md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Резерв. 11 типов на рабочем стенде; ещё 3 — со стендом визуально-языковой модели; для остальных типов подготовлены нормы. Действия рук с деньгами пока не распознаются.</a:t>
            </a:r>
          </a:p>
          <a:p/>
          <a:p>
            <a:r>
              <a:t>Источники: docs/violation_types.md; scripts/make_about.py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cashguard-f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DATATHON 2026 · КЕЙС FORTEBANK · ЛОКАЛЬНАЯ ВИДЕОАНАЛИТИКА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pic>
        <p:nvPicPr>
          <p:cNvPr id="9" name="Picture 8" descr="forte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280160"/>
            <a:ext cx="3017520" cy="45956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874519"/>
            <a:ext cx="9144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76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Нарушение кассира —</a:t>
            </a:r>
          </a:p>
          <a:p>
            <a:pPr>
              <a:spcAft>
                <a:spcPts val="100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с кадром, таймкодом и нормой РК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EFA7C6"/>
                </a:solidFill>
                <a:latin typeface="Inter"/>
              </a:defRPr>
            </a:pPr>
            <a:r>
              <a:t>Локальный ИИ без облака и без ложных тревог на нормальных видео.</a:t>
            </a:r>
          </a:p>
          <a:p>
            <a:pPr>
              <a:spcAft>
                <a:spcPts val="1000"/>
              </a:spcAft>
              <a:defRPr sz="2000" b="0">
                <a:solidFill>
                  <a:srgbClr val="EFA7C6"/>
                </a:solidFill>
                <a:latin typeface="Inter"/>
              </a:defRPr>
            </a:pPr>
            <a:r>
              <a:t>Работает сейчас: fortecashguard.up.railway.app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6858000"/>
            <a:ext cx="3063240" cy="448056"/>
          </a:xfrm>
          <a:prstGeom prst="roundRect">
            <a:avLst>
              <a:gd name="adj" fmla="val 12000"/>
            </a:avLst>
          </a:prstGeom>
          <a:solidFill>
            <a:srgbClr val="B9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9585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AF8FA"/>
                </a:solidFill>
                <a:latin typeface="Inter"/>
              </a:defRPr>
            </a:pPr>
            <a:r>
              <a:t>КОМАНДА FORTEWIN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01 / ГЛАВНОЕ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Три результата, которые важны банку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8BD6AC"/>
                </a:solidFill>
                <a:latin typeface="Inter"/>
              </a:defRPr>
            </a:pPr>
            <a:r>
              <a:t>0 из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ложных тревог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нормальных видео — и в проверке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незнакомой камере тоже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EFA7C6"/>
                </a:solidFill>
                <a:latin typeface="Inter"/>
              </a:defRPr>
            </a:pPr>
            <a:r>
              <a:t>77,5 %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верных вердиктов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на незнакомой камере: каждая из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7 постановок исключалась из обучения.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200" b="1">
                <a:solidFill>
                  <a:srgbClr val="E8BB77"/>
                </a:solidFill>
                <a:latin typeface="Inter"/>
              </a:defRPr>
            </a:pPr>
            <a:r>
              <a:t>21 тип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с пунктом НБРК / АРРФР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 дословной цитатой, сверенной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с adilet.zan.kz.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316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FA7C6"/>
                </a:solidFill>
                <a:latin typeface="Inter"/>
              </a:defRPr>
            </a:pPr>
            <a:r>
              <a:t>Рабочий сервис по контракту ТЗ: 5 видео загружены одновременно — все результаты меньше чем за 4 минуты.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02 /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Загрузил видео — получил доказательную карточку</a:t>
            </a:r>
          </a:p>
        </p:txBody>
      </p:sp>
      <p:pic>
        <p:nvPicPr>
          <p:cNvPr id="9" name="Picture 8" descr="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77440"/>
            <a:ext cx="8229600" cy="5143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53728" y="2377440"/>
            <a:ext cx="4663440" cy="5138928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73768" y="267004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Что видит проверяющий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347472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Вердикт по видео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Тип и таймкод события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1–3 кадра-доказательства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Описание: только измеренное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Пункт норматива и цитата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Предупреждение, если анализ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был ограничен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03 / ОБЪЯСНИМОСТЬ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Каждое слово в описании — измерено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Схема карточки события; кадры закрытого датасета на слайде не используются.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7909560" cy="41148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91840"/>
            <a:ext cx="7360920" cy="585216"/>
          </a:xfrm>
          <a:prstGeom prst="roundRect">
            <a:avLst>
              <a:gd name="adj" fmla="val 12000"/>
            </a:avLst>
          </a:prstGeom>
          <a:solidFill>
            <a:srgbClr val="38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4728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8BB77"/>
                </a:solidFill>
                <a:latin typeface="Inter"/>
              </a:defRPr>
            </a:pPr>
            <a:r>
              <a:t>ОБНАРУЖЕНЫ ПРИЗНАКИ ВОЗМОЖНОГО НАРУШЕНИЯ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ДО СОБЫТИЯ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МОМЕНТ (ТАЙМКОД)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4169663"/>
            <a:ext cx="2249424" cy="1371600"/>
          </a:xfrm>
          <a:prstGeom prst="roundRect">
            <a:avLst>
              <a:gd name="adj" fmla="val 12000"/>
            </a:avLst>
          </a:prstGeom>
          <a:solidFill>
            <a:srgbClr val="211B23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B5A8B4"/>
                </a:solidFill>
                <a:latin typeface="Inter"/>
              </a:defRPr>
            </a:pPr>
            <a:r>
              <a:t>[ кадр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573328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EFA7C6"/>
                </a:solidFill>
                <a:latin typeface="Inter"/>
              </a:defRPr>
            </a:pPr>
            <a:r>
              <a:t>ПОСЛЕДСТВИЕ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6437376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AF8FA"/>
                </a:solidFill>
                <a:latin typeface="Inter"/>
              </a:defRPr>
            </a:pPr>
            <a:r>
              <a:t>Тип  ·  таймкод  ·  наблюдаемый факт  ·  норма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Наблюдается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что видно на кадрах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04164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Квалификация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4988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тип нарушения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06577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Норма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52297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документ, пункт, цитата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08990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A7C6"/>
                </a:solidFill>
                <a:latin typeface="Inter"/>
              </a:defRPr>
            </a:pPr>
            <a:r>
              <a:t>Границы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4710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подсказка для человека,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не юридическое заключение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04 / 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Ансамбль локальных моделей.</a:t>
            </a:r>
          </a:p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Один проверяемый вывод.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13258800" cy="4343400"/>
          </a:xfrm>
          <a:prstGeom prst="roundRect">
            <a:avLst>
              <a:gd name="adj" fmla="val 12000"/>
            </a:avLst>
          </a:prstGeom>
          <a:solidFill>
            <a:srgbClr val="111015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1188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FA7C6"/>
                </a:solidFill>
                <a:latin typeface="Inter"/>
              </a:defRPr>
            </a:pPr>
            <a:r>
              <a:t>ВСЁ ВНУТРИ СЕРВИСА · CPU · БЕЗ ИНТЕРНЕТА ПРИ АНАЛИЗЕ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Восприятие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YOLOX-M/S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RTMPose-m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Смысл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CLIP ViT-B/32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OWLv2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Сцена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Треки, кассир,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зоны стола,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двери, сейфа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3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5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Решение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5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Обученные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пороги по типам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FA7C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338559" y="384048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3151" y="40690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AF8FA"/>
                </a:solidFill>
                <a:latin typeface="Inter"/>
              </a:defRPr>
            </a:pPr>
            <a:r>
              <a:t>Ответ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1" y="470916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JSON, кадры,</a:t>
            </a:r>
          </a:p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норма РК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492240"/>
            <a:ext cx="12435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React  ·  Go API  ·  PostgreSQL  ·  один Docker-контейнер  ·  опционально Qwen3-VL на Mac для доп. проверки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05 / УСТОЙЧИВОСТЬ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Не запоминаем комнату —</a:t>
            </a:r>
          </a:p>
          <a:p>
            <a:pPr>
              <a:spcAft>
                <a:spcPts val="0"/>
              </a:spcAft>
              <a:defRPr sz="3500" b="1">
                <a:solidFill>
                  <a:srgbClr val="FAF8FA"/>
                </a:solidFill>
                <a:latin typeface="Inter"/>
              </a:defRPr>
            </a:pPr>
            <a:r>
              <a:t>понимаем сцену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Масштаб от кассира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расстояния — в долях роста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кассира, а не в пикселях кадра.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Зоны из движения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Стол, дверь и сейф находятся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по тому, где ходят и работают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люди — без разметки камеры.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Экзамен новой камерой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Каждая из 7 постановок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исключалась из обучения: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77,5 % и 0 ложных тревог.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0"/>
            <a:ext cx="1316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A7C6"/>
                </a:solidFill>
                <a:latin typeface="Inter"/>
              </a:defRPr>
            </a:pPr>
            <a:r>
              <a:t>Ракурс сверху учтён: «посторонний» и «ушёл раньше времени» определяются по движению, а не по высоте силуэта.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06 / 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Точность без ложных тревог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Датасет организаторов: 40 видео — 21 с нарушением, 19 без.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FA7C6"/>
                </a:solidFill>
                <a:latin typeface="Inter"/>
              </a:defRPr>
            </a:pPr>
            <a:r>
              <a:t>77,5 %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незнакомая камера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каждая из 7 камер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исключалась из обучения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FA7C6"/>
                </a:solidFill>
                <a:latin typeface="Inter"/>
              </a:defRPr>
            </a:pPr>
            <a:r>
              <a:t>87,5 %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весь датасет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35 из 40 на рабочем стенде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(данные разработки)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97496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8BD6AC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ложных тревог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ни на одном из 19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нормальных видео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53344" y="2697480"/>
            <a:ext cx="3154680" cy="29260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09376" y="2953512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8BB77"/>
                </a:solidFill>
                <a:latin typeface="Inter"/>
              </a:defRPr>
            </a:pPr>
            <a:r>
              <a:t>0,6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9376" y="39959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ошибка таймкода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9376" y="4544568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медиана по найденным;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тип верен у 15 из 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97880"/>
            <a:ext cx="13167360" cy="1325880"/>
          </a:xfrm>
          <a:prstGeom prst="roundRect">
            <a:avLst>
              <a:gd name="adj" fmla="val 12000"/>
            </a:avLst>
          </a:prstGeom>
          <a:solidFill>
            <a:srgbClr val="281322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053328"/>
            <a:ext cx="1261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AF8FA"/>
                </a:solidFill>
                <a:latin typeface="Inter"/>
              </a:defRPr>
            </a:pPr>
            <a:r>
              <a:t>Почему ноль ложных тревог важнее громких процентов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6601968"/>
            <a:ext cx="1261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5A8B4"/>
                </a:solidFill>
                <a:latin typeface="Inter"/>
              </a:defRPr>
            </a:pPr>
            <a:r>
              <a:t>Если система часто ошибается, контролёр перестаёт ей верить. Каждая наша тревога — с доказательством.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07 / НОРМАТИВНАЯ БАЗА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Норма РК — у каждого типа нарушения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EFA7C6"/>
                </a:solidFill>
                <a:latin typeface="Inter"/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тип нарушения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у каждого — документ, пункт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и дословная цитата.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E8BB7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нормативных акта РК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НБРК № 231 — основной;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НБРК № 14; АРРФР № 53.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51460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2770632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8BD6AC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13048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AF8FA"/>
                </a:solidFill>
                <a:latin typeface="Inter"/>
              </a:defRPr>
            </a:pPr>
            <a:r>
              <a:t>выдуманных ссылок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361688"/>
            <a:ext cx="37947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тексты сверены с adilet.zan.kz;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косвенные нормы помечены</a:t>
            </a:r>
          </a:p>
          <a:p>
            <a:pPr>
              <a:spcAft>
                <a:spcPts val="1000"/>
              </a:spcAft>
              <a:defRPr sz="1400" b="0">
                <a:solidFill>
                  <a:srgbClr val="B5A8B4"/>
                </a:solidFill>
                <a:latin typeface="Inter"/>
              </a:defRPr>
            </a:pPr>
            <a:r>
              <a:t>«связанное требование».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316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A7C6"/>
                </a:solidFill>
                <a:latin typeface="Inter"/>
              </a:defRPr>
            </a:pPr>
            <a:r>
              <a:t>Сервис не утверждает невидимое: проводки, сверки и блокировку учётной записи по видео установить нельзя.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08 / ГОТОВНОСТЬ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Готово к проверке жюри — уже сейчас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7157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Публичный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73405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fortecashguard.up.railway.app — интерфейс и API ровно по контракту ТЗ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47288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6484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Нагрузка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366674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5 видео загружены одновременно — все результаты за 3 мин 47 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79976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58114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Длинное видео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459943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143 секунды записи — результат за 3 мин 28 с при лимите 5 минут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12664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5138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Очередь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5532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Время делится между видео; ответ приходит всегда, без «зависаний»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245352"/>
            <a:ext cx="13167360" cy="786384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6446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Проверки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646480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177 автотестов Python + 14 Go; контракт API покрыт тестами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09 / БЕЗОПАСНОСТЬ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Видео не покидает контур банка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ЛОКАЛЬНО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Без облачного 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модели внутри сервиса;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веса в образе, интернет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для анализа не нужен.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ЭТИЧНО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Без распознавания лиц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Только действия, предметы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 положение людей в сцене.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5204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ЛЕГАЛЬНО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Лицензии Apache / 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Все модели и библиотеки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разрешают коммерческое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использование банком.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0"/>
            <a:ext cx="1316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A7C6"/>
                </a:solidFill>
                <a:latin typeface="Inter"/>
              </a:defRPr>
            </a:pPr>
            <a:r>
              <a:t>Работает на обычном процессоре — без GPU и без облачных кредитов.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10 / ИНЖЕНЕРНАЯ ДИСЦИПЛИНА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Отбрасываем всё, что не прошло проверку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80720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Генеративная VLM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82549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как самостоятельный детектор давала ложные тревоги — оставлена только для подтверждения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85876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Аугментация видео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87705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на незнакомой камере 65 % вместо 72,5 % — отключена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91032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Аномалии зон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92861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DINOv2 не отделял нарушения от нормы — не используется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3167360" cy="86868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961888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A7C6"/>
                </a:solidFill>
                <a:latin typeface="Inter"/>
              </a:defRPr>
            </a:pPr>
            <a:r>
              <a:t>Правило приёмки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5980176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FAF8FA"/>
                </a:solidFill>
                <a:latin typeface="Inter"/>
              </a:defRPr>
            </a:pPr>
            <a:r>
              <a:t>изменение принимается, только если проверка на новой камере не ухудшилась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11 / РАЗВИТИЕ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Дальше — действия рук и пилот в отделении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Действия с деньгами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Возврат денег, приём без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документа, пересчёт сумки —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последовательность движений.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Свои съёмки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Готов протокол: 72 клипа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за 90 минут с двух новых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ракурсов, с согласием актёров.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71800"/>
            <a:ext cx="4251960" cy="365760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5" y="32004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A7C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5" y="3840480"/>
            <a:ext cx="37398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AF8FA"/>
                </a:solidFill>
                <a:latin typeface="Inter"/>
              </a:defRPr>
            </a:pPr>
            <a:r>
              <a:t>Пилот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7815" y="4800600"/>
            <a:ext cx="373989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Метрики на живых кассах: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ложные тревоги на камеру,</a:t>
            </a:r>
          </a:p>
          <a:p>
            <a:pPr>
              <a:spcAft>
                <a:spcPts val="1000"/>
              </a:spcAft>
              <a:defRPr sz="1800" b="0">
                <a:solidFill>
                  <a:srgbClr val="B5A8B4"/>
                </a:solidFill>
                <a:latin typeface="Inter"/>
              </a:defRPr>
            </a:pPr>
            <a:r>
              <a:t>время проверки контролёра.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Picture 2" descr="cashguard-f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12 / ДЕМОНСТРАЦИЯ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13</a:t>
            </a:r>
          </a:p>
        </p:txBody>
      </p:sp>
      <p:pic>
        <p:nvPicPr>
          <p:cNvPr id="9" name="Picture 8" descr="forte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417320"/>
            <a:ext cx="2743200" cy="41778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1737360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546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500" b="1">
                <a:solidFill>
                  <a:srgbClr val="FAF8FA"/>
                </a:solidFill>
                <a:latin typeface="Inter"/>
              </a:defRPr>
            </a:pPr>
            <a:r>
              <a:t>Каждая тревога —</a:t>
            </a:r>
          </a:p>
          <a:p>
            <a:pPr>
              <a:spcAft>
                <a:spcPts val="1000"/>
              </a:spcAft>
              <a:defRPr sz="4500" b="1">
                <a:solidFill>
                  <a:srgbClr val="FAF8FA"/>
                </a:solidFill>
                <a:latin typeface="Inter"/>
              </a:defRPr>
            </a:pPr>
            <a:r>
              <a:t>с доказательством и нормой.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1612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EFA7C6"/>
                </a:solidFill>
                <a:latin typeface="Inter"/>
              </a:defRPr>
            </a:pPr>
            <a:r>
              <a:t>fortecashguard.up.railway.app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702552"/>
            <a:ext cx="4937760" cy="576072"/>
          </a:xfrm>
          <a:prstGeom prst="roundRect">
            <a:avLst>
              <a:gd name="adj" fmla="val 12000"/>
            </a:avLst>
          </a:prstGeom>
          <a:solidFill>
            <a:srgbClr val="B9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876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AF8FA"/>
                </a:solidFill>
                <a:latin typeface="Inter"/>
              </a:defRPr>
            </a:pPr>
            <a:r>
              <a:t>ДЕМОНСТРАЦИЯ РАБОЧЕГО СЕРВИСА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ПРИЛОЖЕНИЕ A /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Контракт для автоматической проверки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Ключ передаётся в X-API-Key; без ключа — HTTP 401. Секреты в презентацию не включены.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7909560" cy="402336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33756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FA7C6"/>
                </a:solidFill>
                <a:latin typeface="Inter"/>
              </a:defRPr>
            </a:pPr>
            <a:r>
              <a:t>POST  /api/v1/analyze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7763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5A8B4"/>
                </a:solidFill>
                <a:latin typeface="Inter"/>
              </a:defRPr>
            </a:pPr>
            <a:r>
              <a:t>multipart/form-data: file  →  job_id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81888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FA7C6"/>
                </a:solidFill>
                <a:latin typeface="Inter"/>
              </a:defRPr>
            </a:pPr>
            <a:r>
              <a:t>GET  /api/v1/jobs/{job_id}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55955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5A8B4"/>
                </a:solidFill>
                <a:latin typeface="Inter"/>
              </a:defRPr>
            </a:pPr>
            <a:r>
              <a:t>processing · done · failed  →  verdict, violations[]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918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AF8FA"/>
                </a:solidFill>
                <a:latin typeface="Inter"/>
              </a:defRPr>
            </a:pPr>
            <a: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096512"/>
            <a:ext cx="4389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Тип и описание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Таймкод в секундах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1–3 JPEG-кадра (base64)</a:t>
            </a:r>
          </a:p>
          <a:p>
            <a:pPr>
              <a:spcAft>
                <a:spcPts val="1000"/>
              </a:spcAft>
              <a:defRPr sz="2100" b="0">
                <a:solidFill>
                  <a:srgbClr val="B5A8B4"/>
                </a:solidFill>
                <a:latin typeface="Inter"/>
              </a:defRPr>
            </a:pPr>
            <a:r>
              <a:t>Документ, пункт, ссылка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287768"/>
            <a:ext cx="1316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EFA7C6"/>
                </a:solidFill>
                <a:latin typeface="Inter"/>
              </a:defRPr>
            </a:pPr>
            <a:r>
              <a:t>Проверено через публичный адрес: последовательно и пачкой из 5 видео — все в пределах 5 минут.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guard-f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3931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AF8FA"/>
                </a:solidFill>
                <a:latin typeface="Inter"/>
              </a:defRPr>
            </a:pPr>
            <a:r>
              <a:t>CashGuard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43891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ПРИЛОЖЕНИЕ B / ТИПЫ НАРУШЕНИЙ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744968"/>
            <a:ext cx="13441680" cy="10972"/>
          </a:xfrm>
          <a:prstGeom prst="rect">
            <a:avLst/>
          </a:prstGeom>
          <a:solidFill>
            <a:srgbClr val="34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9095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B5A8B4"/>
                </a:solidFill>
                <a:latin typeface="Inter"/>
              </a:defRPr>
            </a:pPr>
            <a:r>
              <a:t>FORTEWIN  /  КЕЙС FORTEBANK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0" y="78729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FA7C6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325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FAF8FA"/>
                </a:solidFill>
                <a:latin typeface="Inter"/>
              </a:defRPr>
            </a:pPr>
            <a:r>
              <a:t>Что распознаёт рабочий стенд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307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5A8B4"/>
                </a:solidFill>
                <a:latin typeface="Inter"/>
              </a:defRPr>
            </a:pPr>
            <a:r>
              <a:t>Полный справочник с нормами и цитатами: fortecashguard.up.railway.app/about.html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6446520" cy="42062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24927" y="2926080"/>
            <a:ext cx="6446520" cy="4206240"/>
          </a:xfrm>
          <a:prstGeom prst="roundRect">
            <a:avLst>
              <a:gd name="adj" fmla="val 12000"/>
            </a:avLst>
          </a:prstGeom>
          <a:solidFill>
            <a:srgbClr val="17151B"/>
          </a:solidFill>
          <a:ln w="10160">
            <a:solidFill>
              <a:srgbClr val="342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59436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Наличные и ценности без присмотра при уходе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Рабочий компьютер не заблокирован при уходе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Дверь кассового помещения не закрыта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Посторонний в кассовом помещении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Пересчёт наличных не в присутствии клиента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Наличные прошлого клиента на столе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200400"/>
            <a:ext cx="59436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Сейф оставлен открытым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Ключ оставлен в замке сейфа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Еда и напитки на рабочем месте кассира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Кассир ушёл, не завершив обслуживание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Мобильный телефон у кассира</a:t>
            </a:r>
          </a:p>
          <a:p>
            <a:pPr>
              <a:spcAft>
                <a:spcPts val="1000"/>
              </a:spcAft>
              <a:defRPr sz="1800" b="0">
                <a:solidFill>
                  <a:srgbClr val="FAF8FA"/>
                </a:solidFill>
                <a:latin typeface="Inter"/>
              </a:defRPr>
            </a:pPr>
            <a:r>
              <a:t>+ со стендом VLM: личные вещи, сумка инкассатора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CashGuard — от видео к проверяемому событию</dc:title>
  <dc:subject>ForteWin / кейс ForteBank / Datathon 2026</dc:subject>
  <dc:creator>ForteWin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