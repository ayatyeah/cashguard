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секунд. CashGuard анализирует запись кассы и выдаёт не просто «нарушение», а проверяемую карточку: что видно, когда, на каких кадрах и какой пункт норматива РК к этому относится. Всё работает локально, сервис уже доступен по публичному адресу.</a:t>
            </a:r>
          </a:p>
          <a:p/>
          <a:p>
            <a:r>
              <a:t>Источники: SUBMISSION.md; https://fortecashguard.up.railway.app/about.html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секунд. Первое — ноль ложных тревог: на всех 19 нормальных видео модель не подняла ни одной тревоги, в том числе когда камеру исключали из обучения. Второе — проверка «как на новой камере»: каждую из 7 постановок по очереди убирали из обучения и проверяли на ней — 77,5 % верных вердиктов. Третье — каждый тип нарушения связан с конкретным пунктом норматива РК и дословной цитатой.</a:t>
            </a:r>
          </a:p>
          <a:p/>
          <a:p>
            <a:r>
              <a:t>Источники: artifacts/checks-20261017/README.md (development CV 31/40, FP 0); docs/deploy_railway.md; app/rules/norms.yaml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секунд. Сценарий ровно как в ТЗ: загрузка, статус обработки, результат. Для каждого события — тип, таймкод, кадры и норма. Если анализ шёл в ограниченных условиях (длинное видео, очередь), сервис прямо говорит об этом, а не выдаёт уверенный ответ.</a:t>
            </a:r>
          </a:p>
          <a:p/>
          <a:p>
            <a:r>
              <a:t>Источники: src/frontend (review workspace); scripts/cashguard_analyzer.py; ТЗ §4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секунд. Описание собирается из измеренных признаков, а не генерируется свободным текстом — поэтому в нём нет выдуманных деталей. Формат: «Наблюдается — Квалификация — Норма с цитатой». Каждая карточка заканчивается оговоркой, что это подсказка для проверки человеком, как требует ТЗ §7.</a:t>
            </a:r>
          </a:p>
          <a:p/>
          <a:p>
            <a:r>
              <a:t>Источники: app/ml/pipeline.py (describe, TEMPLATES); app/rules/norms.yaml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секунд. Четыре открытые модели: YOLOX находит людей и предметы, RTMPose — позу, CLIP и OWLv2 проверяют смысл (напиток, пачка купюр, ключ в замке). Из треков строится сцена: кто кассир, где его стол, дверь, сейф. Решение принимает не нейросеть-«чёрный ящик», а обученные пороги по каждому типу с функцией потерь «пропуск в два раза дороже ложной тревоги». Всё упаковано в один контейнер.</a:t>
            </a:r>
          </a:p>
          <a:p/>
          <a:p>
            <a:r>
              <a:t>Источники: app/ml/{perception,tracking,events,candidates,semantic,ovd,scorer,pipeline}.py; Dockerfile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секунд. Финальное видео жюри снято под другим углом, поэтому мы с первого дня строили признаки без привязки к камере и проверяли это честно: по очереди убирали каждую из семи постановок камеры из обучения. Перед сдачей отдельно закрыли сценарии, которые ломаются на камере сверху.</a:t>
            </a:r>
          </a:p>
          <a:p/>
          <a:p>
            <a:r>
              <a:t>Источники: docs/research/07_camera_agnostic.md; configs/cabinets.json; app/ml/candidates.py (brief/dend gates)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секунд. Главная цифра для новых видео — 77,5 % на незнакомой камере. На всём датасете рабочий стенд даёт 35 из 40 — это оценка на данных разработки, мы её так и называем. Ложных тревог ноль. Таймкод в среднем ошибается на полсекунды, тип верен у 15 из 16 найденных. Пропуски есть: это действия рук с деньгами (возврат денег, приём без документа) — они в плане развития. Если спросят про полноту: на незнакомой камере найдено 12 из 21 видео с нарушениями.</a:t>
            </a:r>
          </a:p>
          <a:p/>
          <a:p>
            <a:r>
              <a:t>Источники: artifacts/checks-20261017/README.md; scripts/evaluate_cached.py (40 видео, рабочая конфигурация без VLM); docs/ml_model.md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секунд. Критерий «обоснованность правил» — 15 баллов, и здесь мы сильнее всего. Для каждого типа найден пункт в постановлениях НБРК и АРРФР, цитата сверена с adilet. Если норма описывает действие не напрямую, это прямо помечено как связанное требование. Мы не делаем выводов о том, чего нет в кадре.</a:t>
            </a:r>
          </a:p>
          <a:p/>
          <a:p>
            <a:r>
              <a:t>Источники: app/rules/norms.yaml; docs/normative_sources.md; /about.html §4–5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секунд. Мы проверили сервис так, как его будет проверять жюри: загрузили пять видео одновременно через публичный API — все пять получили результат меньше чем за четыре минуты. Самое длинное видео датасета — за три с половиной минуты. Если видео ждут в очереди, сервер делит время между ними, чтобы ни одно не осталось без ответа.</a:t>
            </a:r>
          </a:p>
          <a:p/>
          <a:p>
            <a:r>
              <a:t>Источники: docs/deploy_railway.md; scripts/smoke_jury.sh; scripts/smoke_queue.sh; src/backend/internal/usecase/service.go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секунд. Требование локальности выполнено полностью: после сборки образа интернет для анализа не нужен, поэтому сервис переносится во внутренний контур банка. Лица не распознаются. Лицензии всех компонентов разрешают коммерческое использование — это важно, так как права на решение остаются у банка.</a:t>
            </a:r>
          </a:p>
          <a:p/>
          <a:p>
            <a:r>
              <a:t>Источники: Dockerfile (HF_HUB_OFFLINE=1); ТЗ §7, FAQ 24, 29, 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секунд. За скобками остались эксперименты, которые выглядели многообещающе, но не прошли проверку на незнакомой камере. Мы фиксировали каждую такую попытку. Отсюда и ноль ложных тревог: в модель попадает только то, что доказало пользу.</a:t>
            </a:r>
          </a:p>
          <a:p/>
          <a:p>
            <a:r>
              <a:t>Источники: docs/ml_model.md (отрицательные результаты); docs/research/00_SUMMARY.md; docs/research/killer/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секунд. Следующий шаг — распознавание последовательности действий рук с деньгами: именно там наши текущие пропуски. Для этого уже готов протокол съёмки. Пилот в отделении измерит то, что важно банку: число ложных тревог на камеру и время работы контролёра.</a:t>
            </a:r>
          </a:p>
          <a:p/>
          <a:p>
            <a:r>
              <a:t>Источники: docs/research/killer/K6_data_fast.md; docs/research/killer/K4_unknown_types.md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Демонстрация: загрузить заранее проверенное видео, показать статус, вердикт, кадры, таймкод и карточку нормы. Затем открыть /about.html — справочник типов нарушений. Не утверждать, что система находит все нарушения.</a:t>
            </a:r>
          </a:p>
          <a:p/>
          <a:p>
            <a:r>
              <a:t>Источники: Основная часть: слайды 1–12, около 4 минут 30 секунд.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Резерв для вопросов про API.</a:t>
            </a:r>
          </a:p>
          <a:p/>
          <a:p>
            <a:r>
              <a:t>Источники: src/backend/internal/transport/http.go; scripts/smoke_jury.sh; docs/deploy_railway.md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Резерв. 11 типов на рабочем стенде; ещё 3 — со стендом визуально-языковой модели; для остальных типов подготовлены нормы. Действия рук с деньгами пока не распознаются.</a:t>
            </a:r>
          </a:p>
          <a:p/>
          <a:p>
            <a:r>
              <a:t>Источники: docs/violation_types.md; scripts/make_about.py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o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Picture 2" descr="cashguard-for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84048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0704" y="39319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AF8FA"/>
                </a:solidFill>
                <a:latin typeface="Inter"/>
              </a:defRPr>
            </a:pPr>
            <a:r>
              <a:t>CashGuard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438912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DATATHON 2026 · КЕЙС FORTEBANK · ЛОКАЛЬНАЯ ВИДЕОАНАЛИТИКА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7744968"/>
            <a:ext cx="13441680" cy="10972"/>
          </a:xfrm>
          <a:prstGeom prst="rect">
            <a:avLst/>
          </a:prstGeom>
          <a:solidFill>
            <a:srgbClr val="342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90956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5A8B4"/>
                </a:solidFill>
                <a:latin typeface="Inter"/>
              </a:defRPr>
            </a:pPr>
            <a:r>
              <a:t>YEAHGRINDERS  /  КЕЙС FORTEBANK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0" y="7872983"/>
            <a:ext cx="548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01</a:t>
            </a:r>
          </a:p>
        </p:txBody>
      </p:sp>
      <p:pic>
        <p:nvPicPr>
          <p:cNvPr id="9" name="Picture 8" descr="forte-he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1280160"/>
            <a:ext cx="3017520" cy="459568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874519"/>
            <a:ext cx="91440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7600" b="1">
                <a:solidFill>
                  <a:srgbClr val="FAF8FA"/>
                </a:solidFill>
                <a:latin typeface="Inter"/>
              </a:defRPr>
            </a:pPr>
            <a:r>
              <a:t>CashGuard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83280"/>
            <a:ext cx="96926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700" b="1">
                <a:solidFill>
                  <a:srgbClr val="FAF8FA"/>
                </a:solidFill>
                <a:latin typeface="Inter"/>
              </a:defRPr>
            </a:pPr>
            <a:r>
              <a:t>Нарушение кассира —</a:t>
            </a:r>
          </a:p>
          <a:p>
            <a:pPr>
              <a:spcAft>
                <a:spcPts val="1000"/>
              </a:spcAft>
              <a:defRPr sz="3700" b="1">
                <a:solidFill>
                  <a:srgbClr val="FAF8FA"/>
                </a:solidFill>
                <a:latin typeface="Inter"/>
              </a:defRPr>
            </a:pPr>
            <a:r>
              <a:t>с кадром, таймкодом и нормой РК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5596128"/>
            <a:ext cx="100584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EFA7C6"/>
                </a:solidFill>
                <a:latin typeface="Inter"/>
              </a:defRPr>
            </a:pPr>
            <a:r>
              <a:t>Локальный ИИ без облака и без ложных тревог на нормальных видео.</a:t>
            </a:r>
          </a:p>
          <a:p>
            <a:pPr>
              <a:spcAft>
                <a:spcPts val="1000"/>
              </a:spcAft>
              <a:defRPr sz="2000" b="0">
                <a:solidFill>
                  <a:srgbClr val="EFA7C6"/>
                </a:solidFill>
                <a:latin typeface="Inter"/>
              </a:defRPr>
            </a:pPr>
            <a:r>
              <a:t>Работает сейчас: fortecashguard.up.railway.app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" y="6858000"/>
            <a:ext cx="3063240" cy="448056"/>
          </a:xfrm>
          <a:prstGeom prst="roundRect">
            <a:avLst>
              <a:gd name="adj" fmla="val 12000"/>
            </a:avLst>
          </a:prstGeom>
          <a:solidFill>
            <a:srgbClr val="B91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695858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AF8FA"/>
                </a:solidFill>
                <a:latin typeface="Inter"/>
              </a:defRPr>
            </a:pPr>
            <a:r>
              <a:t>КОМАНДА YEAHGRINDERS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shguard-fo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" y="39319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AF8FA"/>
                </a:solidFill>
                <a:latin typeface="Inter"/>
              </a:defRPr>
            </a:pPr>
            <a:r>
              <a:t>CashGuard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438912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01 / ГЛАВНОЕ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7744968"/>
            <a:ext cx="13441680" cy="10972"/>
          </a:xfrm>
          <a:prstGeom prst="rect">
            <a:avLst/>
          </a:prstGeom>
          <a:solidFill>
            <a:srgbClr val="342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790956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5A8B4"/>
                </a:solidFill>
                <a:latin typeface="Inter"/>
              </a:defRPr>
            </a:pPr>
            <a:r>
              <a:t>YEAHGRINDERS  /  КЕЙС FORTEBANK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0" y="7872983"/>
            <a:ext cx="548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3258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700" b="1">
                <a:solidFill>
                  <a:srgbClr val="FAF8FA"/>
                </a:solidFill>
                <a:latin typeface="Inter"/>
              </a:defRPr>
            </a:pPr>
            <a:r>
              <a:t>Три результата, которые важны банку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14600"/>
            <a:ext cx="4251960" cy="342900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770632"/>
            <a:ext cx="3794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5200" b="1">
                <a:solidFill>
                  <a:srgbClr val="8BD6AC"/>
                </a:solidFill>
                <a:latin typeface="Inter"/>
              </a:defRPr>
            </a:pPr>
            <a:r>
              <a:t>0 из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813048"/>
            <a:ext cx="3794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AF8FA"/>
                </a:solidFill>
                <a:latin typeface="Inter"/>
              </a:defRPr>
            </a:pPr>
            <a:r>
              <a:t>ложных тревог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361688"/>
            <a:ext cx="37947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B5A8B4"/>
                </a:solidFill>
                <a:latin typeface="Inter"/>
              </a:defRPr>
            </a:pPr>
            <a:r>
              <a:t>на нормальных видео — и в проверке</a:t>
            </a:r>
          </a:p>
          <a:p>
            <a:pPr>
              <a:spcAft>
                <a:spcPts val="1000"/>
              </a:spcAft>
              <a:defRPr sz="1400" b="0">
                <a:solidFill>
                  <a:srgbClr val="B5A8B4"/>
                </a:solidFill>
                <a:latin typeface="Inter"/>
              </a:defRPr>
            </a:pPr>
            <a:r>
              <a:t>на незнакомой камере тоже 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93792" y="2514600"/>
            <a:ext cx="4251960" cy="342900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9824" y="2770632"/>
            <a:ext cx="3794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5200" b="1">
                <a:solidFill>
                  <a:srgbClr val="EFA7C6"/>
                </a:solidFill>
                <a:latin typeface="Inter"/>
              </a:defRPr>
            </a:pPr>
            <a:r>
              <a:t>77,5 %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9824" y="3813048"/>
            <a:ext cx="3794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AF8FA"/>
                </a:solidFill>
                <a:latin typeface="Inter"/>
              </a:defRPr>
            </a:pPr>
            <a:r>
              <a:t>верных вердиктов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9824" y="4361688"/>
            <a:ext cx="37947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B5A8B4"/>
                </a:solidFill>
                <a:latin typeface="Inter"/>
              </a:defRPr>
            </a:pPr>
            <a:r>
              <a:t>на незнакомой камере: каждая из</a:t>
            </a:r>
          </a:p>
          <a:p>
            <a:pPr>
              <a:spcAft>
                <a:spcPts val="1000"/>
              </a:spcAft>
              <a:defRPr sz="1400" b="0">
                <a:solidFill>
                  <a:srgbClr val="B5A8B4"/>
                </a:solidFill>
                <a:latin typeface="Inter"/>
              </a:defRPr>
            </a:pPr>
            <a:r>
              <a:t>7 постановок исключалась из обучения.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01784" y="2514600"/>
            <a:ext cx="4251960" cy="342900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57815" y="2770632"/>
            <a:ext cx="3794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5200" b="1">
                <a:solidFill>
                  <a:srgbClr val="E8BB77"/>
                </a:solidFill>
                <a:latin typeface="Inter"/>
              </a:defRPr>
            </a:pPr>
            <a:r>
              <a:t>21 тип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57815" y="3813048"/>
            <a:ext cx="3794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AF8FA"/>
                </a:solidFill>
                <a:latin typeface="Inter"/>
              </a:defRPr>
            </a:pPr>
            <a:r>
              <a:t>с пунктом НБРК / АРРФР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57815" y="4361688"/>
            <a:ext cx="37947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B5A8B4"/>
                </a:solidFill>
                <a:latin typeface="Inter"/>
              </a:defRPr>
            </a:pPr>
            <a:r>
              <a:t>и дословной цитатой, сверенной</a:t>
            </a:r>
          </a:p>
          <a:p>
            <a:pPr>
              <a:spcAft>
                <a:spcPts val="1000"/>
              </a:spcAft>
              <a:defRPr sz="1400" b="0">
                <a:solidFill>
                  <a:srgbClr val="B5A8B4"/>
                </a:solidFill>
                <a:latin typeface="Inter"/>
              </a:defRPr>
            </a:pPr>
            <a:r>
              <a:t>с adilet.zan.kz.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00800"/>
            <a:ext cx="13167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EFA7C6"/>
                </a:solidFill>
                <a:latin typeface="Inter"/>
              </a:defRPr>
            </a:pPr>
            <a:r>
              <a:t>Рабочий сервис по контракту ТЗ: 5 видео загружены одновременно — все результаты меньше чем за 4 минуты.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shguard-fo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" y="39319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AF8FA"/>
                </a:solidFill>
                <a:latin typeface="Inter"/>
              </a:defRPr>
            </a:pPr>
            <a:r>
              <a:t>CashGuard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438912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02 / ПРОДУКТ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7744968"/>
            <a:ext cx="13441680" cy="10972"/>
          </a:xfrm>
          <a:prstGeom prst="rect">
            <a:avLst/>
          </a:prstGeom>
          <a:solidFill>
            <a:srgbClr val="342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790956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5A8B4"/>
                </a:solidFill>
                <a:latin typeface="Inter"/>
              </a:defRPr>
            </a:pPr>
            <a:r>
              <a:t>YEAHGRINDERS  /  КЕЙС FORTEBANK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0" y="7872983"/>
            <a:ext cx="548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3258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700" b="1">
                <a:solidFill>
                  <a:srgbClr val="FAF8FA"/>
                </a:solidFill>
                <a:latin typeface="Inter"/>
              </a:defRPr>
            </a:pPr>
            <a:r>
              <a:t>Загрузил видео — получил доказательную карточку</a:t>
            </a:r>
          </a:p>
        </p:txBody>
      </p:sp>
      <p:pic>
        <p:nvPicPr>
          <p:cNvPr id="9" name="Picture 8" descr="interf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377440"/>
            <a:ext cx="8229600" cy="51435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253728" y="2377440"/>
            <a:ext cx="4663440" cy="5138928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73768" y="2670048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AF8FA"/>
                </a:solidFill>
                <a:latin typeface="Inter"/>
              </a:defRPr>
            </a:pPr>
            <a:r>
              <a:t>Что видит проверяющий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3474720"/>
            <a:ext cx="40233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Вердикт по видео</a:t>
            </a:r>
          </a:p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Тип и таймкод события</a:t>
            </a:r>
          </a:p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1–3 кадра-доказательства</a:t>
            </a:r>
          </a:p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Описание: только измеренное</a:t>
            </a:r>
          </a:p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Пункт норматива и цитата</a:t>
            </a:r>
          </a:p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Предупреждение, если анализ</a:t>
            </a:r>
          </a:p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был ограничен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shguard-fo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" y="39319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AF8FA"/>
                </a:solidFill>
                <a:latin typeface="Inter"/>
              </a:defRPr>
            </a:pPr>
            <a:r>
              <a:t>CashGuard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438912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03 / ОБЪЯСНИМОСТЬ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7744968"/>
            <a:ext cx="13441680" cy="10972"/>
          </a:xfrm>
          <a:prstGeom prst="rect">
            <a:avLst/>
          </a:prstGeom>
          <a:solidFill>
            <a:srgbClr val="342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790956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5A8B4"/>
                </a:solidFill>
                <a:latin typeface="Inter"/>
              </a:defRPr>
            </a:pPr>
            <a:r>
              <a:t>YEAHGRINDERS  /  КЕЙС FORTEBANK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0" y="7872983"/>
            <a:ext cx="548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3258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700" b="1">
                <a:solidFill>
                  <a:srgbClr val="FAF8FA"/>
                </a:solidFill>
                <a:latin typeface="Inter"/>
              </a:defRPr>
            </a:pPr>
            <a:r>
              <a:t>Каждое слово в описании — измерено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377440"/>
            <a:ext cx="1307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B5A8B4"/>
                </a:solidFill>
                <a:latin typeface="Inter"/>
              </a:defRPr>
            </a:pPr>
            <a:r>
              <a:t>Схема карточки события; кадры закрытого датасета на слайде не используются.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17520"/>
            <a:ext cx="7909560" cy="411480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3291840"/>
            <a:ext cx="7360920" cy="585216"/>
          </a:xfrm>
          <a:prstGeom prst="roundRect">
            <a:avLst>
              <a:gd name="adj" fmla="val 12000"/>
            </a:avLst>
          </a:prstGeom>
          <a:solidFill>
            <a:srgbClr val="382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447288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E8BB77"/>
                </a:solidFill>
                <a:latin typeface="Inter"/>
              </a:defRPr>
            </a:pPr>
            <a:r>
              <a:t>ОБНАРУЖЕНЫ ПРИЗНАКИ ВОЗМОЖНОГО НАРУШЕНИЯ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" y="4169663"/>
            <a:ext cx="2249424" cy="1371600"/>
          </a:xfrm>
          <a:prstGeom prst="roundRect">
            <a:avLst>
              <a:gd name="adj" fmla="val 12000"/>
            </a:avLst>
          </a:prstGeom>
          <a:solidFill>
            <a:srgbClr val="211B23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81328" y="452628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B5A8B4"/>
                </a:solidFill>
                <a:latin typeface="Inter"/>
              </a:defRPr>
            </a:pPr>
            <a:r>
              <a:t>[ кадр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733288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EFA7C6"/>
                </a:solidFill>
                <a:latin typeface="Inter"/>
              </a:defRPr>
            </a:pPr>
            <a:r>
              <a:t>ДО СОБЫТИЯ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38144" y="4169663"/>
            <a:ext cx="2249424" cy="1371600"/>
          </a:xfrm>
          <a:prstGeom prst="roundRect">
            <a:avLst>
              <a:gd name="adj" fmla="val 12000"/>
            </a:avLst>
          </a:prstGeom>
          <a:solidFill>
            <a:srgbClr val="211B23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41063" y="452628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B5A8B4"/>
                </a:solidFill>
                <a:latin typeface="Inter"/>
              </a:defRPr>
            </a:pPr>
            <a:r>
              <a:t>[ кадр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7015" y="5733288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EFA7C6"/>
                </a:solidFill>
                <a:latin typeface="Inter"/>
              </a:defRPr>
            </a:pPr>
            <a:r>
              <a:t>МОМЕНТ (ТАЙМКОД)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4169663"/>
            <a:ext cx="2249424" cy="1371600"/>
          </a:xfrm>
          <a:prstGeom prst="roundRect">
            <a:avLst>
              <a:gd name="adj" fmla="val 12000"/>
            </a:avLst>
          </a:prstGeom>
          <a:solidFill>
            <a:srgbClr val="211B23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52628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B5A8B4"/>
                </a:solidFill>
                <a:latin typeface="Inter"/>
              </a:defRPr>
            </a:pPr>
            <a:r>
              <a:t>[ кадр 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6752" y="5733288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EFA7C6"/>
                </a:solidFill>
                <a:latin typeface="Inter"/>
              </a:defRPr>
            </a:pPr>
            <a:r>
              <a:t>ПОСЛЕДСТВИЕ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6437376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FAF8FA"/>
                </a:solidFill>
                <a:latin typeface="Inter"/>
              </a:defRPr>
            </a:pPr>
            <a:r>
              <a:t>Тип  ·  таймкод  ·  наблюдаемый факт  ·  норма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01752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EFA7C6"/>
                </a:solidFill>
                <a:latin typeface="Inter"/>
              </a:defRPr>
            </a:pPr>
            <a:r>
              <a:t>Наблюдается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47472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B5A8B4"/>
                </a:solidFill>
                <a:latin typeface="Inter"/>
              </a:defRPr>
            </a:pPr>
            <a:r>
              <a:t>что видно на кадрах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4041648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EFA7C6"/>
                </a:solidFill>
                <a:latin typeface="Inter"/>
              </a:defRPr>
            </a:pPr>
            <a:r>
              <a:t>Квалификация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4498848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B5A8B4"/>
                </a:solidFill>
                <a:latin typeface="Inter"/>
              </a:defRPr>
            </a:pPr>
            <a:r>
              <a:t>тип нарушения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5065776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EFA7C6"/>
                </a:solidFill>
                <a:latin typeface="Inter"/>
              </a:defRPr>
            </a:pPr>
            <a:r>
              <a:t>Норма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5522976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B5A8B4"/>
                </a:solidFill>
                <a:latin typeface="Inter"/>
              </a:defRPr>
            </a:pPr>
            <a:r>
              <a:t>документ, пункт, цитата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6089904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EFA7C6"/>
                </a:solidFill>
                <a:latin typeface="Inter"/>
              </a:defRPr>
            </a:pPr>
            <a:r>
              <a:t>Границы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6547104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B5A8B4"/>
                </a:solidFill>
                <a:latin typeface="Inter"/>
              </a:defRPr>
            </a:pPr>
            <a:r>
              <a:t>подсказка для человека,</a:t>
            </a:r>
          </a:p>
          <a:p>
            <a:pPr>
              <a:spcAft>
                <a:spcPts val="1000"/>
              </a:spcAft>
              <a:defRPr sz="1600" b="0">
                <a:solidFill>
                  <a:srgbClr val="B5A8B4"/>
                </a:solidFill>
                <a:latin typeface="Inter"/>
              </a:defRPr>
            </a:pPr>
            <a:r>
              <a:t>не юридическое заключение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shguard-fo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" y="39319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AF8FA"/>
                </a:solidFill>
                <a:latin typeface="Inter"/>
              </a:defRPr>
            </a:pPr>
            <a:r>
              <a:t>CashGuard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438912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04 / АРХИТЕКТУРА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7744968"/>
            <a:ext cx="13441680" cy="10972"/>
          </a:xfrm>
          <a:prstGeom prst="rect">
            <a:avLst/>
          </a:prstGeom>
          <a:solidFill>
            <a:srgbClr val="342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790956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5A8B4"/>
                </a:solidFill>
                <a:latin typeface="Inter"/>
              </a:defRPr>
            </a:pPr>
            <a:r>
              <a:t>YEAHGRINDERS  /  КЕЙС FORTEBANK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0" y="7872983"/>
            <a:ext cx="548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3258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500" b="1">
                <a:solidFill>
                  <a:srgbClr val="FAF8FA"/>
                </a:solidFill>
                <a:latin typeface="Inter"/>
              </a:defRPr>
            </a:pPr>
            <a:r>
              <a:t>Ансамбль локальных моделей.</a:t>
            </a:r>
          </a:p>
          <a:p>
            <a:pPr>
              <a:spcAft>
                <a:spcPts val="0"/>
              </a:spcAft>
              <a:defRPr sz="3500" b="1">
                <a:solidFill>
                  <a:srgbClr val="FAF8FA"/>
                </a:solidFill>
                <a:latin typeface="Inter"/>
              </a:defRPr>
            </a:pPr>
            <a:r>
              <a:t>Один проверяемый вывод.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26080"/>
            <a:ext cx="13258800" cy="4343400"/>
          </a:xfrm>
          <a:prstGeom prst="roundRect">
            <a:avLst>
              <a:gd name="adj" fmla="val 12000"/>
            </a:avLst>
          </a:prstGeom>
          <a:solidFill>
            <a:srgbClr val="111015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154680"/>
            <a:ext cx="1188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FA7C6"/>
                </a:solidFill>
                <a:latin typeface="Inter"/>
              </a:defRPr>
            </a:pPr>
            <a:r>
              <a:t>ВСЁ ВНУТРИ СЕРВИСА · CPU · БЕЗ ИНТЕРНЕТА ПРИ АНАЛИЗЕ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840480"/>
            <a:ext cx="2377440" cy="210312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06908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AF8FA"/>
                </a:solidFill>
                <a:latin typeface="Inter"/>
              </a:defRPr>
            </a:pPr>
            <a:r>
              <a:t>Восприятие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709160"/>
            <a:ext cx="2103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B5A8B4"/>
                </a:solidFill>
                <a:latin typeface="Inter"/>
              </a:defRPr>
            </a:pPr>
            <a:r>
              <a:t>YOLOX-M/S</a:t>
            </a:r>
          </a:p>
          <a:p>
            <a:pPr>
              <a:spcAft>
                <a:spcPts val="1000"/>
              </a:spcAft>
              <a:defRPr sz="1600" b="0">
                <a:solidFill>
                  <a:srgbClr val="B5A8B4"/>
                </a:solidFill>
                <a:latin typeface="Inter"/>
              </a:defRPr>
            </a:pPr>
            <a:r>
              <a:t>RTMPose-m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6704" y="452628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EFA7C6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3840480"/>
            <a:ext cx="2377440" cy="210312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12463" y="406908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AF8FA"/>
                </a:solidFill>
                <a:latin typeface="Inter"/>
              </a:defRPr>
            </a:pPr>
            <a:r>
              <a:t>Смысл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2463" y="4709160"/>
            <a:ext cx="2103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B5A8B4"/>
                </a:solidFill>
                <a:latin typeface="Inter"/>
              </a:defRPr>
            </a:pPr>
            <a:r>
              <a:t>CLIP ViT-B/32</a:t>
            </a:r>
          </a:p>
          <a:p>
            <a:pPr>
              <a:spcAft>
                <a:spcPts val="1000"/>
              </a:spcAft>
              <a:defRPr sz="1600" b="0">
                <a:solidFill>
                  <a:srgbClr val="B5A8B4"/>
                </a:solidFill>
                <a:latin typeface="Inter"/>
              </a:defRPr>
            </a:pPr>
            <a:r>
              <a:t>OWLv2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52628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EFA7C6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3840480"/>
            <a:ext cx="2377440" cy="210312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59" y="406908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AF8FA"/>
                </a:solidFill>
                <a:latin typeface="Inter"/>
              </a:defRPr>
            </a:pPr>
            <a:r>
              <a:t>Сцена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4709160"/>
            <a:ext cx="2103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B5A8B4"/>
                </a:solidFill>
                <a:latin typeface="Inter"/>
              </a:defRPr>
            </a:pPr>
            <a:r>
              <a:t>Треки, кассир,</a:t>
            </a:r>
          </a:p>
          <a:p>
            <a:pPr>
              <a:spcAft>
                <a:spcPts val="1000"/>
              </a:spcAft>
              <a:defRPr sz="1600" b="0">
                <a:solidFill>
                  <a:srgbClr val="B5A8B4"/>
                </a:solidFill>
                <a:latin typeface="Inter"/>
              </a:defRPr>
            </a:pPr>
            <a:r>
              <a:t>зоны стола,</a:t>
            </a:r>
          </a:p>
          <a:p>
            <a:pPr>
              <a:spcAft>
                <a:spcPts val="1000"/>
              </a:spcAft>
              <a:defRPr sz="1600" b="0">
                <a:solidFill>
                  <a:srgbClr val="B5A8B4"/>
                </a:solidFill>
                <a:latin typeface="Inter"/>
              </a:defRPr>
            </a:pPr>
            <a:r>
              <a:t>двери, сейфа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0496" y="452628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EFA7C6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41663" y="3840480"/>
            <a:ext cx="2377440" cy="210312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06255" y="406908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AF8FA"/>
                </a:solidFill>
                <a:latin typeface="Inter"/>
              </a:defRPr>
            </a:pPr>
            <a:r>
              <a:t>Решение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06255" y="4709160"/>
            <a:ext cx="2103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B5A8B4"/>
                </a:solidFill>
                <a:latin typeface="Inter"/>
              </a:defRPr>
            </a:pPr>
            <a:r>
              <a:t>Обученные</a:t>
            </a:r>
          </a:p>
          <a:p>
            <a:pPr>
              <a:spcAft>
                <a:spcPts val="1000"/>
              </a:spcAft>
              <a:defRPr sz="1600" b="0">
                <a:solidFill>
                  <a:srgbClr val="B5A8B4"/>
                </a:solidFill>
                <a:latin typeface="Inter"/>
              </a:defRPr>
            </a:pPr>
            <a:r>
              <a:t>пороги по типам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37392" y="452628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EFA7C6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338559" y="3840480"/>
            <a:ext cx="2377440" cy="210312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03151" y="406908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AF8FA"/>
                </a:solidFill>
                <a:latin typeface="Inter"/>
              </a:defRPr>
            </a:pPr>
            <a:r>
              <a:t>Ответ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03151" y="4709160"/>
            <a:ext cx="2103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B5A8B4"/>
                </a:solidFill>
                <a:latin typeface="Inter"/>
              </a:defRPr>
            </a:pPr>
            <a:r>
              <a:t>JSON, кадры,</a:t>
            </a:r>
          </a:p>
          <a:p>
            <a:pPr>
              <a:spcAft>
                <a:spcPts val="1000"/>
              </a:spcAft>
              <a:defRPr sz="1600" b="0">
                <a:solidFill>
                  <a:srgbClr val="B5A8B4"/>
                </a:solidFill>
                <a:latin typeface="Inter"/>
              </a:defRPr>
            </a:pPr>
            <a:r>
              <a:t>норма РК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6492240"/>
            <a:ext cx="12435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B5A8B4"/>
                </a:solidFill>
                <a:latin typeface="Inter"/>
              </a:defRPr>
            </a:pPr>
            <a:r>
              <a:t>React  ·  Go API  ·  PostgreSQL  ·  один Docker-контейнер  ·  опционально Qwen3-VL на Mac для доп. проверки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shguard-fo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" y="39319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AF8FA"/>
                </a:solidFill>
                <a:latin typeface="Inter"/>
              </a:defRPr>
            </a:pPr>
            <a:r>
              <a:t>CashGuard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438912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05 / УСТОЙЧИВОСТЬ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7744968"/>
            <a:ext cx="13441680" cy="10972"/>
          </a:xfrm>
          <a:prstGeom prst="rect">
            <a:avLst/>
          </a:prstGeom>
          <a:solidFill>
            <a:srgbClr val="342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790956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5A8B4"/>
                </a:solidFill>
                <a:latin typeface="Inter"/>
              </a:defRPr>
            </a:pPr>
            <a:r>
              <a:t>YEAHGRINDERS  /  КЕЙС FORTEBANK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0" y="7872983"/>
            <a:ext cx="548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3258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500" b="1">
                <a:solidFill>
                  <a:srgbClr val="FAF8FA"/>
                </a:solidFill>
                <a:latin typeface="Inter"/>
              </a:defRPr>
            </a:pPr>
            <a:r>
              <a:t>Не запоминаем комнату —</a:t>
            </a:r>
          </a:p>
          <a:p>
            <a:pPr>
              <a:spcAft>
                <a:spcPts val="0"/>
              </a:spcAft>
              <a:defRPr sz="3500" b="1">
                <a:solidFill>
                  <a:srgbClr val="FAF8FA"/>
                </a:solidFill>
                <a:latin typeface="Inter"/>
              </a:defRPr>
            </a:pPr>
            <a:r>
              <a:t>понимаем сцену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71800"/>
            <a:ext cx="4251960" cy="352044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200400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FA7C6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840480"/>
            <a:ext cx="373989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AF8FA"/>
                </a:solidFill>
                <a:latin typeface="Inter"/>
              </a:defRPr>
            </a:pPr>
            <a:r>
              <a:t>Масштаб от кассира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800600"/>
            <a:ext cx="3739896" cy="1581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Все расстояния — в долях роста</a:t>
            </a:r>
          </a:p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кассира, а не в пикселях кадра.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93792" y="2971800"/>
            <a:ext cx="4251960" cy="352044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9824" y="3200400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FA7C6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9824" y="3840480"/>
            <a:ext cx="373989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AF8FA"/>
                </a:solidFill>
                <a:latin typeface="Inter"/>
              </a:defRPr>
            </a:pPr>
            <a:r>
              <a:t>Зоны из движения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9824" y="4800600"/>
            <a:ext cx="3739896" cy="1581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Стол, дверь и сейф находятся</a:t>
            </a:r>
          </a:p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по тому, где ходят и работают</a:t>
            </a:r>
          </a:p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люди — без разметки камеры.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01784" y="2971800"/>
            <a:ext cx="4251960" cy="352044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57815" y="3200400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FA7C6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57815" y="3840480"/>
            <a:ext cx="373989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AF8FA"/>
                </a:solidFill>
                <a:latin typeface="Inter"/>
              </a:defRPr>
            </a:pPr>
            <a:r>
              <a:t>Экзамен новой камерой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57815" y="4800600"/>
            <a:ext cx="3739896" cy="1581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Каждая из 7 постановок</a:t>
            </a:r>
          </a:p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исключалась из обучения:</a:t>
            </a:r>
          </a:p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77,5 % и 0 ложных тревог.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858000"/>
            <a:ext cx="13167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A7C6"/>
                </a:solidFill>
                <a:latin typeface="Inter"/>
              </a:defRPr>
            </a:pPr>
            <a:r>
              <a:t>Ракурс сверху учтён: «посторонний» и «ушёл раньше времени» определяются по движению, а не по высоте силуэта.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shguard-fo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" y="39319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AF8FA"/>
                </a:solidFill>
                <a:latin typeface="Inter"/>
              </a:defRPr>
            </a:pPr>
            <a:r>
              <a:t>CashGuard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438912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06 / КАЧЕСТВО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7744968"/>
            <a:ext cx="13441680" cy="10972"/>
          </a:xfrm>
          <a:prstGeom prst="rect">
            <a:avLst/>
          </a:prstGeom>
          <a:solidFill>
            <a:srgbClr val="342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790956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5A8B4"/>
                </a:solidFill>
                <a:latin typeface="Inter"/>
              </a:defRPr>
            </a:pPr>
            <a:r>
              <a:t>YEAHGRINDERS  /  КЕЙС FORTEBANK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0" y="7872983"/>
            <a:ext cx="548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3258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700" b="1">
                <a:solidFill>
                  <a:srgbClr val="FAF8FA"/>
                </a:solidFill>
                <a:latin typeface="Inter"/>
              </a:defRPr>
            </a:pPr>
            <a:r>
              <a:t>Точность без ложных тревог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377440"/>
            <a:ext cx="1307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B5A8B4"/>
                </a:solidFill>
                <a:latin typeface="Inter"/>
              </a:defRPr>
            </a:pPr>
            <a:r>
              <a:t>Датасет организаторов: 40 видео — 21 с нарушением, 19 без.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97480"/>
            <a:ext cx="3154680" cy="292608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953512"/>
            <a:ext cx="2697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EFA7C6"/>
                </a:solidFill>
                <a:latin typeface="Inter"/>
              </a:defRPr>
            </a:pPr>
            <a:r>
              <a:t>77,5 %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995928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AF8FA"/>
                </a:solidFill>
                <a:latin typeface="Inter"/>
              </a:defRPr>
            </a:pPr>
            <a:r>
              <a:t>незнакомая камера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544568"/>
            <a:ext cx="2697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B5A8B4"/>
                </a:solidFill>
                <a:latin typeface="Inter"/>
              </a:defRPr>
            </a:pPr>
            <a:r>
              <a:t>каждая из 7 камер</a:t>
            </a:r>
          </a:p>
          <a:p>
            <a:pPr>
              <a:spcAft>
                <a:spcPts val="1000"/>
              </a:spcAft>
              <a:defRPr sz="1400" b="0">
                <a:solidFill>
                  <a:srgbClr val="B5A8B4"/>
                </a:solidFill>
                <a:latin typeface="Inter"/>
              </a:defRPr>
            </a:pPr>
            <a:r>
              <a:t>исключалась из обучения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41648" y="2697480"/>
            <a:ext cx="3154680" cy="292608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2953512"/>
            <a:ext cx="2697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EFA7C6"/>
                </a:solidFill>
                <a:latin typeface="Inter"/>
              </a:defRPr>
            </a:pPr>
            <a:r>
              <a:t>87,5 %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995928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AF8FA"/>
                </a:solidFill>
                <a:latin typeface="Inter"/>
              </a:defRPr>
            </a:pPr>
            <a:r>
              <a:t>весь датасет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544568"/>
            <a:ext cx="2697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B5A8B4"/>
                </a:solidFill>
                <a:latin typeface="Inter"/>
              </a:defRPr>
            </a:pPr>
            <a:r>
              <a:t>35 из 40 на рабочем стенде</a:t>
            </a:r>
          </a:p>
          <a:p>
            <a:pPr>
              <a:spcAft>
                <a:spcPts val="1000"/>
              </a:spcAft>
              <a:defRPr sz="1400" b="0">
                <a:solidFill>
                  <a:srgbClr val="B5A8B4"/>
                </a:solidFill>
                <a:latin typeface="Inter"/>
              </a:defRPr>
            </a:pPr>
            <a:r>
              <a:t>(данные разработки)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97496" y="2697480"/>
            <a:ext cx="3154680" cy="292608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53527" y="2953512"/>
            <a:ext cx="2697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8BD6AC"/>
                </a:solidFill>
                <a:latin typeface="Inter"/>
              </a:defRPr>
            </a:pPr>
            <a: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3527" y="3995928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AF8FA"/>
                </a:solidFill>
                <a:latin typeface="Inter"/>
              </a:defRPr>
            </a:pPr>
            <a:r>
              <a:t>ложных тревог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3527" y="4544568"/>
            <a:ext cx="2697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B5A8B4"/>
                </a:solidFill>
                <a:latin typeface="Inter"/>
              </a:defRPr>
            </a:pPr>
            <a:r>
              <a:t>ни на одном из 19</a:t>
            </a:r>
          </a:p>
          <a:p>
            <a:pPr>
              <a:spcAft>
                <a:spcPts val="1000"/>
              </a:spcAft>
              <a:defRPr sz="1400" b="0">
                <a:solidFill>
                  <a:srgbClr val="B5A8B4"/>
                </a:solidFill>
                <a:latin typeface="Inter"/>
              </a:defRPr>
            </a:pPr>
            <a:r>
              <a:t>нормальных видео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53344" y="2697480"/>
            <a:ext cx="3154680" cy="292608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09376" y="2953512"/>
            <a:ext cx="2697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E8BB77"/>
                </a:solidFill>
                <a:latin typeface="Inter"/>
              </a:defRPr>
            </a:pPr>
            <a:r>
              <a:t>0,6 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9376" y="3995928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AF8FA"/>
                </a:solidFill>
                <a:latin typeface="Inter"/>
              </a:defRPr>
            </a:pPr>
            <a:r>
              <a:t>ошибка таймкода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9376" y="4544568"/>
            <a:ext cx="2697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B5A8B4"/>
                </a:solidFill>
                <a:latin typeface="Inter"/>
              </a:defRPr>
            </a:pPr>
            <a:r>
              <a:t>медиана по найденным;</a:t>
            </a:r>
          </a:p>
          <a:p>
            <a:pPr>
              <a:spcAft>
                <a:spcPts val="1000"/>
              </a:spcAft>
              <a:defRPr sz="1400" b="0">
                <a:solidFill>
                  <a:srgbClr val="B5A8B4"/>
                </a:solidFill>
                <a:latin typeface="Inter"/>
              </a:defRPr>
            </a:pPr>
            <a:r>
              <a:t>тип верен у 15 из 16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897880"/>
            <a:ext cx="13167360" cy="1325880"/>
          </a:xfrm>
          <a:prstGeom prst="roundRect">
            <a:avLst>
              <a:gd name="adj" fmla="val 12000"/>
            </a:avLst>
          </a:prstGeom>
          <a:solidFill>
            <a:srgbClr val="281322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6053328"/>
            <a:ext cx="12618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FAF8FA"/>
                </a:solidFill>
                <a:latin typeface="Inter"/>
              </a:defRPr>
            </a:pPr>
            <a:r>
              <a:t>Почему ноль ложных тревог важнее громких процентов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6601968"/>
            <a:ext cx="12618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B5A8B4"/>
                </a:solidFill>
                <a:latin typeface="Inter"/>
              </a:defRPr>
            </a:pPr>
            <a:r>
              <a:t>Если система часто ошибается, контролёр перестаёт ей верить. Каждая наша тревога — с доказательством.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shguard-fo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" y="39319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AF8FA"/>
                </a:solidFill>
                <a:latin typeface="Inter"/>
              </a:defRPr>
            </a:pPr>
            <a:r>
              <a:t>CashGuard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438912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07 / НОРМАТИВНАЯ БАЗА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7744968"/>
            <a:ext cx="13441680" cy="10972"/>
          </a:xfrm>
          <a:prstGeom prst="rect">
            <a:avLst/>
          </a:prstGeom>
          <a:solidFill>
            <a:srgbClr val="342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790956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5A8B4"/>
                </a:solidFill>
                <a:latin typeface="Inter"/>
              </a:defRPr>
            </a:pPr>
            <a:r>
              <a:t>YEAHGRINDERS  /  КЕЙС FORTEBANK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0" y="7872983"/>
            <a:ext cx="548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3258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700" b="1">
                <a:solidFill>
                  <a:srgbClr val="FAF8FA"/>
                </a:solidFill>
                <a:latin typeface="Inter"/>
              </a:defRPr>
            </a:pPr>
            <a:r>
              <a:t>Норма РК — у каждого типа нарушения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14600"/>
            <a:ext cx="4251960" cy="342900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770632"/>
            <a:ext cx="3794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5600" b="1">
                <a:solidFill>
                  <a:srgbClr val="EFA7C6"/>
                </a:solidFill>
                <a:latin typeface="Inter"/>
              </a:defRPr>
            </a:pPr>
            <a: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813048"/>
            <a:ext cx="3794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AF8FA"/>
                </a:solidFill>
                <a:latin typeface="Inter"/>
              </a:defRPr>
            </a:pPr>
            <a:r>
              <a:t>тип нарушения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361688"/>
            <a:ext cx="37947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B5A8B4"/>
                </a:solidFill>
                <a:latin typeface="Inter"/>
              </a:defRPr>
            </a:pPr>
            <a:r>
              <a:t>у каждого — документ, пункт</a:t>
            </a:r>
          </a:p>
          <a:p>
            <a:pPr>
              <a:spcAft>
                <a:spcPts val="1000"/>
              </a:spcAft>
              <a:defRPr sz="1400" b="0">
                <a:solidFill>
                  <a:srgbClr val="B5A8B4"/>
                </a:solidFill>
                <a:latin typeface="Inter"/>
              </a:defRPr>
            </a:pPr>
            <a:r>
              <a:t>и дословная цитата.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93792" y="2514600"/>
            <a:ext cx="4251960" cy="342900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9824" y="2770632"/>
            <a:ext cx="3794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5600" b="1">
                <a:solidFill>
                  <a:srgbClr val="E8BB77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9824" y="3813048"/>
            <a:ext cx="3794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AF8FA"/>
                </a:solidFill>
                <a:latin typeface="Inter"/>
              </a:defRPr>
            </a:pPr>
            <a:r>
              <a:t>нормативных акта РК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9824" y="4361688"/>
            <a:ext cx="37947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B5A8B4"/>
                </a:solidFill>
                <a:latin typeface="Inter"/>
              </a:defRPr>
            </a:pPr>
            <a:r>
              <a:t>НБРК № 231 — основной;</a:t>
            </a:r>
          </a:p>
          <a:p>
            <a:pPr>
              <a:spcAft>
                <a:spcPts val="1000"/>
              </a:spcAft>
              <a:defRPr sz="1400" b="0">
                <a:solidFill>
                  <a:srgbClr val="B5A8B4"/>
                </a:solidFill>
                <a:latin typeface="Inter"/>
              </a:defRPr>
            </a:pPr>
            <a:r>
              <a:t>НБРК № 14; АРРФР № 53.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01784" y="2514600"/>
            <a:ext cx="4251960" cy="342900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57815" y="2770632"/>
            <a:ext cx="3794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5600" b="1">
                <a:solidFill>
                  <a:srgbClr val="8BD6AC"/>
                </a:solidFill>
                <a:latin typeface="Inter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57815" y="3813048"/>
            <a:ext cx="3794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AF8FA"/>
                </a:solidFill>
                <a:latin typeface="Inter"/>
              </a:defRPr>
            </a:pPr>
            <a:r>
              <a:t>выдуманных ссылок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57815" y="4361688"/>
            <a:ext cx="37947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B5A8B4"/>
                </a:solidFill>
                <a:latin typeface="Inter"/>
              </a:defRPr>
            </a:pPr>
            <a:r>
              <a:t>тексты сверены с adilet.zan.kz;</a:t>
            </a:r>
          </a:p>
          <a:p>
            <a:pPr>
              <a:spcAft>
                <a:spcPts val="1000"/>
              </a:spcAft>
              <a:defRPr sz="1400" b="0">
                <a:solidFill>
                  <a:srgbClr val="B5A8B4"/>
                </a:solidFill>
                <a:latin typeface="Inter"/>
              </a:defRPr>
            </a:pPr>
            <a:r>
              <a:t>косвенные нормы помечены</a:t>
            </a:r>
          </a:p>
          <a:p>
            <a:pPr>
              <a:spcAft>
                <a:spcPts val="1000"/>
              </a:spcAft>
              <a:defRPr sz="1400" b="0">
                <a:solidFill>
                  <a:srgbClr val="B5A8B4"/>
                </a:solidFill>
                <a:latin typeface="Inter"/>
              </a:defRPr>
            </a:pPr>
            <a:r>
              <a:t>«связанное требование».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00800"/>
            <a:ext cx="13167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EFA7C6"/>
                </a:solidFill>
                <a:latin typeface="Inter"/>
              </a:defRPr>
            </a:pPr>
            <a:r>
              <a:t>Сервис не утверждает невидимое: проводки, сверки и блокировку учётной записи по видео установить нельзя.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shguard-fo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" y="39319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AF8FA"/>
                </a:solidFill>
                <a:latin typeface="Inter"/>
              </a:defRPr>
            </a:pPr>
            <a:r>
              <a:t>CashGuard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438912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08 / ГОТОВНОСТЬ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7744968"/>
            <a:ext cx="13441680" cy="10972"/>
          </a:xfrm>
          <a:prstGeom prst="rect">
            <a:avLst/>
          </a:prstGeom>
          <a:solidFill>
            <a:srgbClr val="342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790956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5A8B4"/>
                </a:solidFill>
                <a:latin typeface="Inter"/>
              </a:defRPr>
            </a:pPr>
            <a:r>
              <a:t>YEAHGRINDERS  /  КЕЙС FORTEBANK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0" y="7872983"/>
            <a:ext cx="548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3258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700" b="1">
                <a:solidFill>
                  <a:srgbClr val="FAF8FA"/>
                </a:solidFill>
                <a:latin typeface="Inter"/>
              </a:defRPr>
            </a:pPr>
            <a:r>
              <a:t>Готово к проверке жюри — уже сейчас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13167360" cy="786384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71576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EFA7C6"/>
                </a:solidFill>
                <a:latin typeface="Inter"/>
              </a:defRPr>
            </a:pPr>
            <a:r>
              <a:t>Публичный URL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1104" y="2734056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AF8FA"/>
                </a:solidFill>
                <a:latin typeface="Inter"/>
              </a:defRPr>
            </a:pPr>
            <a:r>
              <a:t>fortecashguard.up.railway.app — интерфейс и API ровно по контракту ТЗ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47288"/>
            <a:ext cx="13167360" cy="786384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648456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EFA7C6"/>
                </a:solidFill>
                <a:latin typeface="Inter"/>
              </a:defRPr>
            </a:pPr>
            <a:r>
              <a:t>Нагрузка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3666744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AF8FA"/>
                </a:solidFill>
                <a:latin typeface="Inter"/>
              </a:defRPr>
            </a:pPr>
            <a:r>
              <a:t>5 видео загружены одновременно — все результаты за 3 мин 47 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79976"/>
            <a:ext cx="13167360" cy="786384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4581144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EFA7C6"/>
                </a:solidFill>
                <a:latin typeface="Inter"/>
              </a:defRPr>
            </a:pPr>
            <a:r>
              <a:t>Длинное видео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1104" y="4599432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AF8FA"/>
                </a:solidFill>
                <a:latin typeface="Inter"/>
              </a:defRPr>
            </a:pPr>
            <a:r>
              <a:t>143 секунды записи — результат за 3 мин 28 с при лимите 5 минут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12664"/>
            <a:ext cx="13167360" cy="786384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551383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EFA7C6"/>
                </a:solidFill>
                <a:latin typeface="Inter"/>
              </a:defRPr>
            </a:pPr>
            <a:r>
              <a:t>Очередь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61104" y="55321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AF8FA"/>
                </a:solidFill>
                <a:latin typeface="Inter"/>
              </a:defRPr>
            </a:pPr>
            <a:r>
              <a:t>Время делится между видео; ответ приходит всегда, без «зависаний»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6245352"/>
            <a:ext cx="13167360" cy="786384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64465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EFA7C6"/>
                </a:solidFill>
                <a:latin typeface="Inter"/>
              </a:defRPr>
            </a:pPr>
            <a:r>
              <a:t>Проверки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61104" y="6464808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AF8FA"/>
                </a:solidFill>
                <a:latin typeface="Inter"/>
              </a:defRPr>
            </a:pPr>
            <a:r>
              <a:t>177 автотестов Python + 14 Go; контракт API покрыт тестами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shguard-fo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" y="39319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AF8FA"/>
                </a:solidFill>
                <a:latin typeface="Inter"/>
              </a:defRPr>
            </a:pPr>
            <a:r>
              <a:t>CashGuard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438912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09 / БЕЗОПАСНОСТЬ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7744968"/>
            <a:ext cx="13441680" cy="10972"/>
          </a:xfrm>
          <a:prstGeom prst="rect">
            <a:avLst/>
          </a:prstGeom>
          <a:solidFill>
            <a:srgbClr val="342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790956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5A8B4"/>
                </a:solidFill>
                <a:latin typeface="Inter"/>
              </a:defRPr>
            </a:pPr>
            <a:r>
              <a:t>YEAHGRINDERS  /  КЕЙС FORTEBANK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0" y="7872983"/>
            <a:ext cx="548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3258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700" b="1">
                <a:solidFill>
                  <a:srgbClr val="FAF8FA"/>
                </a:solidFill>
                <a:latin typeface="Inter"/>
              </a:defRPr>
            </a:pPr>
            <a:r>
              <a:t>Видео не покидает контур банка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71800"/>
            <a:ext cx="4251960" cy="352044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200400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FA7C6"/>
                </a:solidFill>
                <a:latin typeface="Inter"/>
              </a:defRPr>
            </a:pPr>
            <a:r>
              <a:t>ЛОКАЛЬНО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840480"/>
            <a:ext cx="373989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AF8FA"/>
                </a:solidFill>
                <a:latin typeface="Inter"/>
              </a:defRPr>
            </a:pPr>
            <a:r>
              <a:t>Без облачного 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800600"/>
            <a:ext cx="3739896" cy="1581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Все модели внутри сервиса;</a:t>
            </a:r>
          </a:p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веса в образе, интернет</a:t>
            </a:r>
          </a:p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для анализа не нужен.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93792" y="2971800"/>
            <a:ext cx="4251960" cy="352044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9824" y="3200400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FA7C6"/>
                </a:solidFill>
                <a:latin typeface="Inter"/>
              </a:defRPr>
            </a:pPr>
            <a:r>
              <a:t>ЭТИЧНО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9824" y="3840480"/>
            <a:ext cx="373989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AF8FA"/>
                </a:solidFill>
                <a:latin typeface="Inter"/>
              </a:defRPr>
            </a:pPr>
            <a:r>
              <a:t>Без распознавания лиц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9824" y="4800600"/>
            <a:ext cx="3739896" cy="1581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Только действия, предметы</a:t>
            </a:r>
          </a:p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и положение людей в сцене.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01784" y="2971800"/>
            <a:ext cx="4251960" cy="352044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57815" y="3200400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FA7C6"/>
                </a:solidFill>
                <a:latin typeface="Inter"/>
              </a:defRPr>
            </a:pPr>
            <a:r>
              <a:t>ЛЕГАЛЬНО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57815" y="3840480"/>
            <a:ext cx="373989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AF8FA"/>
                </a:solidFill>
                <a:latin typeface="Inter"/>
              </a:defRPr>
            </a:pPr>
            <a:r>
              <a:t>Лицензии Apache / 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57815" y="4800600"/>
            <a:ext cx="3739896" cy="1581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Все модели и библиотеки</a:t>
            </a:r>
          </a:p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разрешают коммерческое</a:t>
            </a:r>
          </a:p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использование банком.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858000"/>
            <a:ext cx="13167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EFA7C6"/>
                </a:solidFill>
                <a:latin typeface="Inter"/>
              </a:defRPr>
            </a:pPr>
            <a:r>
              <a:t>Работает на обычном процессоре — без GPU и без облачных кредитов.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shguard-fo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" y="39319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AF8FA"/>
                </a:solidFill>
                <a:latin typeface="Inter"/>
              </a:defRPr>
            </a:pPr>
            <a:r>
              <a:t>CashGuard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438912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10 / ИНЖЕНЕРНАЯ ДИСЦИПЛИНА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7744968"/>
            <a:ext cx="13441680" cy="10972"/>
          </a:xfrm>
          <a:prstGeom prst="rect">
            <a:avLst/>
          </a:prstGeom>
          <a:solidFill>
            <a:srgbClr val="342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790956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5A8B4"/>
                </a:solidFill>
                <a:latin typeface="Inter"/>
              </a:defRPr>
            </a:pPr>
            <a:r>
              <a:t>YEAHGRINDERS  /  КЕЙС FORTEBANK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0" y="7872983"/>
            <a:ext cx="548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3258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700" b="1">
                <a:solidFill>
                  <a:srgbClr val="FAF8FA"/>
                </a:solidFill>
                <a:latin typeface="Inter"/>
              </a:defRPr>
            </a:pPr>
            <a:r>
              <a:t>Отбрасываем всё, что не прошло проверку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40"/>
            <a:ext cx="13167360" cy="86868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807208"/>
            <a:ext cx="33832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EFA7C6"/>
                </a:solidFill>
                <a:latin typeface="Inter"/>
              </a:defRPr>
            </a:pPr>
            <a:r>
              <a:t>Генеративная VLM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825496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AF8FA"/>
                </a:solidFill>
                <a:latin typeface="Inter"/>
              </a:defRPr>
            </a:pPr>
            <a:r>
              <a:t>как самостоятельный детектор давала ложные тревоги — оставлена только для подтверждения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13167360" cy="86868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858768"/>
            <a:ext cx="33832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EFA7C6"/>
                </a:solidFill>
                <a:latin typeface="Inter"/>
              </a:defRPr>
            </a:pPr>
            <a:r>
              <a:t>Аугментация видео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3877056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AF8FA"/>
                </a:solidFill>
                <a:latin typeface="Inter"/>
              </a:defRPr>
            </a:pPr>
            <a:r>
              <a:t>на незнакомой камере 65 % вместо 72,5 % — отключена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709160"/>
            <a:ext cx="13167360" cy="86868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4910328"/>
            <a:ext cx="33832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EFA7C6"/>
                </a:solidFill>
                <a:latin typeface="Inter"/>
              </a:defRPr>
            </a:pPr>
            <a:r>
              <a:t>Аномалии зон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4928616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AF8FA"/>
                </a:solidFill>
                <a:latin typeface="Inter"/>
              </a:defRPr>
            </a:pPr>
            <a:r>
              <a:t>DINOv2 не отделял нарушения от нормы — не используется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760720"/>
            <a:ext cx="13167360" cy="86868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5961888"/>
            <a:ext cx="33832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EFA7C6"/>
                </a:solidFill>
                <a:latin typeface="Inter"/>
              </a:defRPr>
            </a:pPr>
            <a:r>
              <a:t>Правило приёмки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4" y="5980176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AF8FA"/>
                </a:solidFill>
                <a:latin typeface="Inter"/>
              </a:defRPr>
            </a:pPr>
            <a:r>
              <a:t>изменение принимается, только если проверка на новой камере не ухудшилась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shguard-fo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" y="39319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AF8FA"/>
                </a:solidFill>
                <a:latin typeface="Inter"/>
              </a:defRPr>
            </a:pPr>
            <a:r>
              <a:t>CashGuard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438912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11 / РАЗВИТИЕ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7744968"/>
            <a:ext cx="13441680" cy="10972"/>
          </a:xfrm>
          <a:prstGeom prst="rect">
            <a:avLst/>
          </a:prstGeom>
          <a:solidFill>
            <a:srgbClr val="342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790956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5A8B4"/>
                </a:solidFill>
                <a:latin typeface="Inter"/>
              </a:defRPr>
            </a:pPr>
            <a:r>
              <a:t>YEAHGRINDERS  /  КЕЙС FORTEBANK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0" y="7872983"/>
            <a:ext cx="548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3258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700" b="1">
                <a:solidFill>
                  <a:srgbClr val="FAF8FA"/>
                </a:solidFill>
                <a:latin typeface="Inter"/>
              </a:defRPr>
            </a:pPr>
            <a:r>
              <a:t>Дальше — действия рук и пилот в отделении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71800"/>
            <a:ext cx="4251960" cy="365760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200400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FA7C6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840480"/>
            <a:ext cx="373989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AF8FA"/>
                </a:solidFill>
                <a:latin typeface="Inter"/>
              </a:defRPr>
            </a:pPr>
            <a:r>
              <a:t>Действия с деньгами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800600"/>
            <a:ext cx="3739896" cy="1719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Возврат денег, приём без</a:t>
            </a:r>
          </a:p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документа, пересчёт сумки —</a:t>
            </a:r>
          </a:p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последовательность движений.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93792" y="2971800"/>
            <a:ext cx="4251960" cy="365760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9824" y="3200400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FA7C6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9824" y="3840480"/>
            <a:ext cx="373989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AF8FA"/>
                </a:solidFill>
                <a:latin typeface="Inter"/>
              </a:defRPr>
            </a:pPr>
            <a:r>
              <a:t>Свои съёмки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9824" y="4800600"/>
            <a:ext cx="3739896" cy="1719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Готов протокол: 72 клипа</a:t>
            </a:r>
          </a:p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за 90 минут с двух новых</a:t>
            </a:r>
          </a:p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ракурсов, с согласием актёров.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01784" y="2971800"/>
            <a:ext cx="4251960" cy="365760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57815" y="3200400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FA7C6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57815" y="3840480"/>
            <a:ext cx="373989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AF8FA"/>
                </a:solidFill>
                <a:latin typeface="Inter"/>
              </a:defRPr>
            </a:pPr>
            <a:r>
              <a:t>Пилот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57815" y="4800600"/>
            <a:ext cx="3739896" cy="1719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Метрики на живых кассах:</a:t>
            </a:r>
          </a:p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ложные тревоги на камеру,</a:t>
            </a:r>
          </a:p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время проверки контролёра.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o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Picture 2" descr="cashguard-for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84048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0704" y="39319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AF8FA"/>
                </a:solidFill>
                <a:latin typeface="Inter"/>
              </a:defRPr>
            </a:pPr>
            <a:r>
              <a:t>CashGuard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438912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12 / ДЕМОНСТРАЦИЯ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7744968"/>
            <a:ext cx="13441680" cy="10972"/>
          </a:xfrm>
          <a:prstGeom prst="rect">
            <a:avLst/>
          </a:prstGeom>
          <a:solidFill>
            <a:srgbClr val="342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90956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5A8B4"/>
                </a:solidFill>
                <a:latin typeface="Inter"/>
              </a:defRPr>
            </a:pPr>
            <a:r>
              <a:t>YEAHGRINDERS  /  КЕЙС FORTEBANK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0" y="7872983"/>
            <a:ext cx="548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13</a:t>
            </a:r>
          </a:p>
        </p:txBody>
      </p:sp>
      <p:pic>
        <p:nvPicPr>
          <p:cNvPr id="9" name="Picture 8" descr="forte-he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760" y="1417320"/>
            <a:ext cx="2743200" cy="417789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1737360"/>
            <a:ext cx="9144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6600" b="1">
                <a:solidFill>
                  <a:srgbClr val="FAF8FA"/>
                </a:solidFill>
                <a:latin typeface="Inter"/>
              </a:defRPr>
            </a:pPr>
            <a:r>
              <a:t>CashGuard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154680"/>
            <a:ext cx="100584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500" b="1">
                <a:solidFill>
                  <a:srgbClr val="FAF8FA"/>
                </a:solidFill>
                <a:latin typeface="Inter"/>
              </a:defRPr>
            </a:pPr>
            <a:r>
              <a:t>Каждая тревога —</a:t>
            </a:r>
          </a:p>
          <a:p>
            <a:pPr>
              <a:spcAft>
                <a:spcPts val="1000"/>
              </a:spcAft>
              <a:defRPr sz="4500" b="1">
                <a:solidFill>
                  <a:srgbClr val="FAF8FA"/>
                </a:solidFill>
                <a:latin typeface="Inter"/>
              </a:defRPr>
            </a:pPr>
            <a:r>
              <a:t>с доказательством и нормой.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577840"/>
            <a:ext cx="11612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EFA7C6"/>
                </a:solidFill>
                <a:latin typeface="Inter"/>
              </a:defRPr>
            </a:pPr>
            <a:r>
              <a:t>fortecashguard.up.railway.app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6702552"/>
            <a:ext cx="4937760" cy="576072"/>
          </a:xfrm>
          <a:prstGeom prst="roundRect">
            <a:avLst>
              <a:gd name="adj" fmla="val 12000"/>
            </a:avLst>
          </a:prstGeom>
          <a:solidFill>
            <a:srgbClr val="B91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68762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FAF8FA"/>
                </a:solidFill>
                <a:latin typeface="Inter"/>
              </a:defRPr>
            </a:pPr>
            <a:r>
              <a:t>ДЕМОНСТРАЦИЯ РАБОЧЕГО СЕРВИСА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shguard-fo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" y="39319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AF8FA"/>
                </a:solidFill>
                <a:latin typeface="Inter"/>
              </a:defRPr>
            </a:pPr>
            <a:r>
              <a:t>CashGuard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438912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ПРИЛОЖЕНИЕ A /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7744968"/>
            <a:ext cx="13441680" cy="10972"/>
          </a:xfrm>
          <a:prstGeom prst="rect">
            <a:avLst/>
          </a:prstGeom>
          <a:solidFill>
            <a:srgbClr val="342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790956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5A8B4"/>
                </a:solidFill>
                <a:latin typeface="Inter"/>
              </a:defRPr>
            </a:pPr>
            <a:r>
              <a:t>YEAHGRINDERS  /  КЕЙС FORTEBANK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0" y="7872983"/>
            <a:ext cx="548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3258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700" b="1">
                <a:solidFill>
                  <a:srgbClr val="FAF8FA"/>
                </a:solidFill>
                <a:latin typeface="Inter"/>
              </a:defRPr>
            </a:pPr>
            <a:r>
              <a:t>Контракт для автоматической проверки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377440"/>
            <a:ext cx="1307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B5A8B4"/>
                </a:solidFill>
                <a:latin typeface="Inter"/>
              </a:defRPr>
            </a:pPr>
            <a:r>
              <a:t>Ключ передаётся в X-API-Key; без ключа — HTTP 401. Секреты в презентацию не включены.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71800"/>
            <a:ext cx="7909560" cy="402336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333756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EFA7C6"/>
                </a:solidFill>
                <a:latin typeface="Inter"/>
              </a:defRPr>
            </a:pPr>
            <a:r>
              <a:t>POST  /api/v1/analyze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977639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B5A8B4"/>
                </a:solidFill>
                <a:latin typeface="Inter"/>
              </a:defRPr>
            </a:pPr>
            <a:r>
              <a:t>multipart/form-data: file  →  job_id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4818888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EFA7C6"/>
                </a:solidFill>
                <a:latin typeface="Inter"/>
              </a:defRPr>
            </a:pPr>
            <a:r>
              <a:t>GET  /api/v1/jobs/{job_id}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5559552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B5A8B4"/>
                </a:solidFill>
                <a:latin typeface="Inter"/>
              </a:defRPr>
            </a:pPr>
            <a:r>
              <a:t>processing · done · failed  →  verdict, violations[]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329184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AF8FA"/>
                </a:solidFill>
                <a:latin typeface="Inter"/>
              </a:defRPr>
            </a:pPr>
            <a:r>
              <a:t>Результат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096512"/>
            <a:ext cx="43891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B5A8B4"/>
                </a:solidFill>
                <a:latin typeface="Inter"/>
              </a:defRPr>
            </a:pPr>
            <a:r>
              <a:t>Тип и описание</a:t>
            </a:r>
          </a:p>
          <a:p>
            <a:pPr>
              <a:spcAft>
                <a:spcPts val="1000"/>
              </a:spcAft>
              <a:defRPr sz="2100" b="0">
                <a:solidFill>
                  <a:srgbClr val="B5A8B4"/>
                </a:solidFill>
                <a:latin typeface="Inter"/>
              </a:defRPr>
            </a:pPr>
            <a:r>
              <a:t>Таймкод в секундах</a:t>
            </a:r>
          </a:p>
          <a:p>
            <a:pPr>
              <a:spcAft>
                <a:spcPts val="1000"/>
              </a:spcAft>
              <a:defRPr sz="2100" b="0">
                <a:solidFill>
                  <a:srgbClr val="B5A8B4"/>
                </a:solidFill>
                <a:latin typeface="Inter"/>
              </a:defRPr>
            </a:pPr>
            <a:r>
              <a:t>1–3 JPEG-кадра (base64)</a:t>
            </a:r>
          </a:p>
          <a:p>
            <a:pPr>
              <a:spcAft>
                <a:spcPts val="1000"/>
              </a:spcAft>
              <a:defRPr sz="2100" b="0">
                <a:solidFill>
                  <a:srgbClr val="B5A8B4"/>
                </a:solidFill>
                <a:latin typeface="Inter"/>
              </a:defRPr>
            </a:pPr>
            <a:r>
              <a:t>Документ, пункт, ссылка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7287768"/>
            <a:ext cx="13167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EFA7C6"/>
                </a:solidFill>
                <a:latin typeface="Inter"/>
              </a:defRPr>
            </a:pPr>
            <a:r>
              <a:t>Проверено через публичный адрес: последовательно и пачкой из 5 видео — все в пределах 5 минут.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shguard-fo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" y="39319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AF8FA"/>
                </a:solidFill>
                <a:latin typeface="Inter"/>
              </a:defRPr>
            </a:pPr>
            <a:r>
              <a:t>CashGuard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438912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ПРИЛОЖЕНИЕ B / ТИПЫ НАРУШЕНИЙ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7744968"/>
            <a:ext cx="13441680" cy="10972"/>
          </a:xfrm>
          <a:prstGeom prst="rect">
            <a:avLst/>
          </a:prstGeom>
          <a:solidFill>
            <a:srgbClr val="342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790956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5A8B4"/>
                </a:solidFill>
                <a:latin typeface="Inter"/>
              </a:defRPr>
            </a:pPr>
            <a:r>
              <a:t>YEAHGRINDERS  /  КЕЙС FORTEBANK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0" y="7872983"/>
            <a:ext cx="548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3258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700" b="1">
                <a:solidFill>
                  <a:srgbClr val="FAF8FA"/>
                </a:solidFill>
                <a:latin typeface="Inter"/>
              </a:defRPr>
            </a:pPr>
            <a:r>
              <a:t>Что распознаёт рабочий стенд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377440"/>
            <a:ext cx="1307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B5A8B4"/>
                </a:solidFill>
                <a:latin typeface="Inter"/>
              </a:defRPr>
            </a:pPr>
            <a:r>
              <a:t>Полный справочник с нормами и цитатами: fortecashguard.up.railway.app/about.html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6446520" cy="420624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24927" y="2926080"/>
            <a:ext cx="6446520" cy="420624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00400"/>
            <a:ext cx="594360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AF8FA"/>
                </a:solidFill>
                <a:latin typeface="Inter"/>
              </a:defRPr>
            </a:pPr>
            <a:r>
              <a:t>Наличные и ценности без присмотра при уходе</a:t>
            </a:r>
          </a:p>
          <a:p>
            <a:pPr>
              <a:spcAft>
                <a:spcPts val="1000"/>
              </a:spcAft>
              <a:defRPr sz="1800" b="0">
                <a:solidFill>
                  <a:srgbClr val="FAF8FA"/>
                </a:solidFill>
                <a:latin typeface="Inter"/>
              </a:defRPr>
            </a:pPr>
            <a:r>
              <a:t>Рабочий компьютер не заблокирован при уходе</a:t>
            </a:r>
          </a:p>
          <a:p>
            <a:pPr>
              <a:spcAft>
                <a:spcPts val="1000"/>
              </a:spcAft>
              <a:defRPr sz="1800" b="0">
                <a:solidFill>
                  <a:srgbClr val="FAF8FA"/>
                </a:solidFill>
                <a:latin typeface="Inter"/>
              </a:defRPr>
            </a:pPr>
            <a:r>
              <a:t>Дверь кассового помещения не закрыта</a:t>
            </a:r>
          </a:p>
          <a:p>
            <a:pPr>
              <a:spcAft>
                <a:spcPts val="1000"/>
              </a:spcAft>
              <a:defRPr sz="1800" b="0">
                <a:solidFill>
                  <a:srgbClr val="FAF8FA"/>
                </a:solidFill>
                <a:latin typeface="Inter"/>
              </a:defRPr>
            </a:pPr>
            <a:r>
              <a:t>Посторонний в кассовом помещении</a:t>
            </a:r>
          </a:p>
          <a:p>
            <a:pPr>
              <a:spcAft>
                <a:spcPts val="1000"/>
              </a:spcAft>
              <a:defRPr sz="1800" b="0">
                <a:solidFill>
                  <a:srgbClr val="FAF8FA"/>
                </a:solidFill>
                <a:latin typeface="Inter"/>
              </a:defRPr>
            </a:pPr>
            <a:r>
              <a:t>Пересчёт наличных не в присутствии клиента</a:t>
            </a:r>
          </a:p>
          <a:p>
            <a:pPr>
              <a:spcAft>
                <a:spcPts val="1000"/>
              </a:spcAft>
              <a:defRPr sz="1800" b="0">
                <a:solidFill>
                  <a:srgbClr val="FAF8FA"/>
                </a:solidFill>
                <a:latin typeface="Inter"/>
              </a:defRPr>
            </a:pPr>
            <a:r>
              <a:t>Наличные прошлого клиента на столе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3200400"/>
            <a:ext cx="594360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AF8FA"/>
                </a:solidFill>
                <a:latin typeface="Inter"/>
              </a:defRPr>
            </a:pPr>
            <a:r>
              <a:t>Сейф оставлен открытым</a:t>
            </a:r>
          </a:p>
          <a:p>
            <a:pPr>
              <a:spcAft>
                <a:spcPts val="1000"/>
              </a:spcAft>
              <a:defRPr sz="1800" b="0">
                <a:solidFill>
                  <a:srgbClr val="FAF8FA"/>
                </a:solidFill>
                <a:latin typeface="Inter"/>
              </a:defRPr>
            </a:pPr>
            <a:r>
              <a:t>Ключ оставлен в замке сейфа</a:t>
            </a:r>
          </a:p>
          <a:p>
            <a:pPr>
              <a:spcAft>
                <a:spcPts val="1000"/>
              </a:spcAft>
              <a:defRPr sz="1800" b="0">
                <a:solidFill>
                  <a:srgbClr val="FAF8FA"/>
                </a:solidFill>
                <a:latin typeface="Inter"/>
              </a:defRPr>
            </a:pPr>
            <a:r>
              <a:t>Еда и напитки на рабочем месте кассира</a:t>
            </a:r>
          </a:p>
          <a:p>
            <a:pPr>
              <a:spcAft>
                <a:spcPts val="1000"/>
              </a:spcAft>
              <a:defRPr sz="1800" b="0">
                <a:solidFill>
                  <a:srgbClr val="FAF8FA"/>
                </a:solidFill>
                <a:latin typeface="Inter"/>
              </a:defRPr>
            </a:pPr>
            <a:r>
              <a:t>Кассир ушёл, не завершив обслуживание</a:t>
            </a:r>
          </a:p>
          <a:p>
            <a:pPr>
              <a:spcAft>
                <a:spcPts val="1000"/>
              </a:spcAft>
              <a:defRPr sz="1800" b="0">
                <a:solidFill>
                  <a:srgbClr val="FAF8FA"/>
                </a:solidFill>
                <a:latin typeface="Inter"/>
              </a:defRPr>
            </a:pPr>
            <a:r>
              <a:t>Мобильный телефон у кассира</a:t>
            </a:r>
          </a:p>
          <a:p>
            <a:pPr>
              <a:spcAft>
                <a:spcPts val="1000"/>
              </a:spcAft>
              <a:defRPr sz="1800" b="0">
                <a:solidFill>
                  <a:srgbClr val="FAF8FA"/>
                </a:solidFill>
                <a:latin typeface="Inter"/>
              </a:defRPr>
            </a:pPr>
            <a:r>
              <a:t>+ со стендом VLM: личные вещи, сумка инкассатора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CashGuard — от видео к проверяемому событию</dc:title>
  <dc:subject>YeahGrinders / кейс ForteBank / Datathon 2026</dc:subject>
  <dc:creator>YeahGrinders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